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4" r:id="rId18"/>
    <p:sldId id="272" r:id="rId19"/>
  </p:sldIdLst>
  <p:sldSz cx="16256000" cy="9144000"/>
  <p:notesSz cx="9144000" cy="16256000"/>
  <p:embeddedFontLst>
    <p:embeddedFont>
      <p:font typeface="等线" panose="02010600030101010101" pitchFamily="2" charset="-122"/>
      <p:regular r:id="rId21"/>
      <p:bold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0F0E"/>
    <a:srgbClr val="E8EEF1"/>
    <a:srgbClr val="162320"/>
    <a:srgbClr val="364235"/>
    <a:srgbClr val="10B980"/>
    <a:srgbClr val="E9EB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8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版多列内容_2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812800" y="711200"/>
            <a:ext cx="4572000" cy="16256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2"/>
            </p:custDataLst>
          </p:nvPr>
        </p:nvSpPr>
        <p:spPr>
          <a:xfrm>
            <a:off x="812800" y="2743200"/>
            <a:ext cx="4572000" cy="52832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6389" hasCustomPrompt="1"/>
            <p:custDataLst>
              <p:tags r:id="rId3"/>
            </p:custDataLst>
          </p:nvPr>
        </p:nvSpPr>
        <p:spPr>
          <a:xfrm>
            <a:off x="6197600" y="812800"/>
            <a:ext cx="4419600" cy="6299200"/>
          </a:xfrm>
          <a:custGeom>
            <a:avLst/>
            <a:gdLst>
              <a:gd name="connisteX0" fmla="*/ 0 w 3314700"/>
              <a:gd name="connsiteY0" fmla="*/ 203200 h 4724400"/>
              <a:gd name="connisteX1" fmla="*/ 203200 w 3314700"/>
              <a:gd name="connsiteY1" fmla="*/ 0 h 4724400"/>
              <a:gd name="connisteX2" fmla="*/ 3111500 w 3314700"/>
              <a:gd name="connsiteY2" fmla="*/ 0 h 4724400"/>
              <a:gd name="connisteX3" fmla="*/ 3314700 w 3314700"/>
              <a:gd name="connsiteY3" fmla="*/ 203200 h 4724400"/>
              <a:gd name="connisteX4" fmla="*/ 3314700 w 3314700"/>
              <a:gd name="connsiteY4" fmla="*/ 4521200 h 4724400"/>
              <a:gd name="connisteX5" fmla="*/ 3111500 w 3314700"/>
              <a:gd name="connsiteY5" fmla="*/ 4724400 h 4724400"/>
              <a:gd name="connisteX6" fmla="*/ 203200 w 3314700"/>
              <a:gd name="connsiteY6" fmla="*/ 4724400 h 4724400"/>
              <a:gd name="connisteX7" fmla="*/ 0 w 3314700"/>
              <a:gd name="connsiteY7" fmla="*/ 4521200 h 4724400"/>
              <a:gd name="connisteX8" fmla="*/ 0 w 33147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3147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111500" y="0"/>
                </a:lnTo>
                <a:cubicBezTo>
                  <a:pt x="3223724" y="0"/>
                  <a:pt x="3314700" y="90976"/>
                  <a:pt x="3314700" y="203200"/>
                </a:cubicBezTo>
                <a:lnTo>
                  <a:pt x="3314700" y="4521200"/>
                </a:lnTo>
                <a:cubicBezTo>
                  <a:pt x="3314700" y="4633424"/>
                  <a:pt x="3223724" y="4724400"/>
                  <a:pt x="31115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4"/>
            </p:custDataLst>
          </p:nvPr>
        </p:nvSpPr>
        <p:spPr>
          <a:xfrm>
            <a:off x="6197600" y="7518400"/>
            <a:ext cx="4419600" cy="812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0" name="内容占位符 9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11023600" y="812800"/>
            <a:ext cx="4419600" cy="6299200"/>
          </a:xfrm>
          <a:custGeom>
            <a:avLst/>
            <a:gdLst>
              <a:gd name="connisteX0" fmla="*/ 0 w 3314700"/>
              <a:gd name="connsiteY0" fmla="*/ 203200 h 4724400"/>
              <a:gd name="connisteX1" fmla="*/ 203200 w 3314700"/>
              <a:gd name="connsiteY1" fmla="*/ 0 h 4724400"/>
              <a:gd name="connisteX2" fmla="*/ 3111500 w 3314700"/>
              <a:gd name="connsiteY2" fmla="*/ 0 h 4724400"/>
              <a:gd name="connisteX3" fmla="*/ 3314700 w 3314700"/>
              <a:gd name="connsiteY3" fmla="*/ 203200 h 4724400"/>
              <a:gd name="connisteX4" fmla="*/ 3314700 w 3314700"/>
              <a:gd name="connsiteY4" fmla="*/ 4521200 h 4724400"/>
              <a:gd name="connisteX5" fmla="*/ 3111500 w 3314700"/>
              <a:gd name="connsiteY5" fmla="*/ 4724400 h 4724400"/>
              <a:gd name="connisteX6" fmla="*/ 203200 w 3314700"/>
              <a:gd name="connsiteY6" fmla="*/ 4724400 h 4724400"/>
              <a:gd name="connisteX7" fmla="*/ 0 w 3314700"/>
              <a:gd name="connsiteY7" fmla="*/ 4521200 h 4724400"/>
              <a:gd name="connisteX8" fmla="*/ 0 w 33147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3147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111500" y="0"/>
                </a:lnTo>
                <a:cubicBezTo>
                  <a:pt x="3223724" y="0"/>
                  <a:pt x="3314700" y="90976"/>
                  <a:pt x="3314700" y="203200"/>
                </a:cubicBezTo>
                <a:lnTo>
                  <a:pt x="3314700" y="4521200"/>
                </a:lnTo>
                <a:cubicBezTo>
                  <a:pt x="3314700" y="4633424"/>
                  <a:pt x="3223724" y="4724400"/>
                  <a:pt x="31115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11023600" y="7518400"/>
            <a:ext cx="4419600" cy="812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列内容_3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  <a:t>2026/6/14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1"/>
            </p:custDataLst>
          </p:nvPr>
        </p:nvSpPr>
        <p:spPr>
          <a:xfrm>
            <a:off x="812800" y="711200"/>
            <a:ext cx="14630400" cy="8128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6389" hasCustomPrompt="1"/>
            <p:custDataLst>
              <p:tags r:id="rId2"/>
            </p:custDataLst>
          </p:nvPr>
        </p:nvSpPr>
        <p:spPr>
          <a:xfrm>
            <a:off x="812800" y="2032000"/>
            <a:ext cx="4605867" cy="54864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812800" y="7924800"/>
            <a:ext cx="4605867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9" name="内容占位符 8"/>
          <p:cNvSpPr>
            <a:spLocks noGrp="1"/>
          </p:cNvSpPr>
          <p:nvPr>
            <p:ph idx="16390" hasCustomPrompt="1"/>
            <p:custDataLst>
              <p:tags r:id="rId4"/>
            </p:custDataLst>
          </p:nvPr>
        </p:nvSpPr>
        <p:spPr>
          <a:xfrm>
            <a:off x="5825067" y="2032000"/>
            <a:ext cx="4605867" cy="54864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5825067" y="7924800"/>
            <a:ext cx="4605867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idx="16391" hasCustomPrompt="1"/>
            <p:custDataLst>
              <p:tags r:id="rId6"/>
            </p:custDataLst>
          </p:nvPr>
        </p:nvSpPr>
        <p:spPr>
          <a:xfrm>
            <a:off x="10837333" y="2032000"/>
            <a:ext cx="4605867" cy="5486400"/>
          </a:xfrm>
          <a:custGeom>
            <a:avLst/>
            <a:gdLst>
              <a:gd name="connisteX0" fmla="*/ 0 w 3454400"/>
              <a:gd name="connsiteY0" fmla="*/ 203200 h 4114800"/>
              <a:gd name="connisteX1" fmla="*/ 203200 w 3454400"/>
              <a:gd name="connsiteY1" fmla="*/ 0 h 4114800"/>
              <a:gd name="connisteX2" fmla="*/ 3251200 w 3454400"/>
              <a:gd name="connsiteY2" fmla="*/ 0 h 4114800"/>
              <a:gd name="connisteX3" fmla="*/ 3454400 w 3454400"/>
              <a:gd name="connsiteY3" fmla="*/ 203200 h 4114800"/>
              <a:gd name="connisteX4" fmla="*/ 3454400 w 3454400"/>
              <a:gd name="connsiteY4" fmla="*/ 3911600 h 4114800"/>
              <a:gd name="connisteX5" fmla="*/ 3251200 w 3454400"/>
              <a:gd name="connsiteY5" fmla="*/ 4114800 h 4114800"/>
              <a:gd name="connisteX6" fmla="*/ 203200 w 3454400"/>
              <a:gd name="connsiteY6" fmla="*/ 4114800 h 4114800"/>
              <a:gd name="connisteX7" fmla="*/ 0 w 3454400"/>
              <a:gd name="connsiteY7" fmla="*/ 3911600 h 4114800"/>
              <a:gd name="connisteX8" fmla="*/ 0 w 34544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34544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911600"/>
                </a:lnTo>
                <a:cubicBezTo>
                  <a:pt x="3454400" y="4023824"/>
                  <a:pt x="3363424" y="4114800"/>
                  <a:pt x="32512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/>
              <a:t> 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10837333" y="7924800"/>
            <a:ext cx="4605867" cy="406400"/>
          </a:xfrm>
          <a:prstGeom prst="rect">
            <a:avLst/>
          </a:prstGeo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单击此处添加项正文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1767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35.xml"/><Relationship Id="rId18" Type="http://schemas.openxmlformats.org/officeDocument/2006/relationships/tags" Target="../tags/tag40.xml"/><Relationship Id="rId26" Type="http://schemas.openxmlformats.org/officeDocument/2006/relationships/tags" Target="../tags/tag48.xml"/><Relationship Id="rId3" Type="http://schemas.openxmlformats.org/officeDocument/2006/relationships/tags" Target="../tags/tag25.xml"/><Relationship Id="rId21" Type="http://schemas.openxmlformats.org/officeDocument/2006/relationships/tags" Target="../tags/tag43.xml"/><Relationship Id="rId7" Type="http://schemas.openxmlformats.org/officeDocument/2006/relationships/tags" Target="../tags/tag29.xml"/><Relationship Id="rId12" Type="http://schemas.openxmlformats.org/officeDocument/2006/relationships/tags" Target="../tags/tag34.xml"/><Relationship Id="rId17" Type="http://schemas.openxmlformats.org/officeDocument/2006/relationships/tags" Target="../tags/tag39.xml"/><Relationship Id="rId25" Type="http://schemas.openxmlformats.org/officeDocument/2006/relationships/tags" Target="../tags/tag47.xml"/><Relationship Id="rId33" Type="http://schemas.openxmlformats.org/officeDocument/2006/relationships/notesSlide" Target="../notesSlides/notesSlide9.xml"/><Relationship Id="rId2" Type="http://schemas.openxmlformats.org/officeDocument/2006/relationships/tags" Target="../tags/tag24.xml"/><Relationship Id="rId16" Type="http://schemas.openxmlformats.org/officeDocument/2006/relationships/tags" Target="../tags/tag38.xml"/><Relationship Id="rId20" Type="http://schemas.openxmlformats.org/officeDocument/2006/relationships/tags" Target="../tags/tag42.xml"/><Relationship Id="rId29" Type="http://schemas.openxmlformats.org/officeDocument/2006/relationships/tags" Target="../tags/tag51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tags" Target="../tags/tag33.xml"/><Relationship Id="rId24" Type="http://schemas.openxmlformats.org/officeDocument/2006/relationships/tags" Target="../tags/tag46.xml"/><Relationship Id="rId32" Type="http://schemas.openxmlformats.org/officeDocument/2006/relationships/slideLayout" Target="../slideLayouts/slideLayout1.xml"/><Relationship Id="rId5" Type="http://schemas.openxmlformats.org/officeDocument/2006/relationships/tags" Target="../tags/tag27.xml"/><Relationship Id="rId15" Type="http://schemas.openxmlformats.org/officeDocument/2006/relationships/tags" Target="../tags/tag37.xml"/><Relationship Id="rId23" Type="http://schemas.openxmlformats.org/officeDocument/2006/relationships/tags" Target="../tags/tag45.xml"/><Relationship Id="rId28" Type="http://schemas.openxmlformats.org/officeDocument/2006/relationships/tags" Target="../tags/tag50.xml"/><Relationship Id="rId10" Type="http://schemas.openxmlformats.org/officeDocument/2006/relationships/tags" Target="../tags/tag32.xml"/><Relationship Id="rId19" Type="http://schemas.openxmlformats.org/officeDocument/2006/relationships/tags" Target="../tags/tag41.xml"/><Relationship Id="rId31" Type="http://schemas.openxmlformats.org/officeDocument/2006/relationships/tags" Target="../tags/tag53.xml"/><Relationship Id="rId4" Type="http://schemas.openxmlformats.org/officeDocument/2006/relationships/tags" Target="../tags/tag26.xml"/><Relationship Id="rId9" Type="http://schemas.openxmlformats.org/officeDocument/2006/relationships/tags" Target="../tags/tag31.xml"/><Relationship Id="rId14" Type="http://schemas.openxmlformats.org/officeDocument/2006/relationships/tags" Target="../tags/tag36.xml"/><Relationship Id="rId22" Type="http://schemas.openxmlformats.org/officeDocument/2006/relationships/tags" Target="../tags/tag44.xml"/><Relationship Id="rId27" Type="http://schemas.openxmlformats.org/officeDocument/2006/relationships/tags" Target="../tags/tag49.xml"/><Relationship Id="rId30" Type="http://schemas.openxmlformats.org/officeDocument/2006/relationships/tags" Target="../tags/tag52.xml"/><Relationship Id="rId8" Type="http://schemas.openxmlformats.org/officeDocument/2006/relationships/tags" Target="../tags/tag3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tags" Target="../tags/tag66.xml"/><Relationship Id="rId18" Type="http://schemas.openxmlformats.org/officeDocument/2006/relationships/tags" Target="../tags/tag71.xml"/><Relationship Id="rId3" Type="http://schemas.openxmlformats.org/officeDocument/2006/relationships/tags" Target="../tags/tag56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60.xml"/><Relationship Id="rId12" Type="http://schemas.openxmlformats.org/officeDocument/2006/relationships/tags" Target="../tags/tag65.xml"/><Relationship Id="rId17" Type="http://schemas.openxmlformats.org/officeDocument/2006/relationships/tags" Target="../tags/tag70.xml"/><Relationship Id="rId2" Type="http://schemas.openxmlformats.org/officeDocument/2006/relationships/tags" Target="../tags/tag55.xml"/><Relationship Id="rId16" Type="http://schemas.openxmlformats.org/officeDocument/2006/relationships/tags" Target="../tags/tag69.xml"/><Relationship Id="rId20" Type="http://schemas.openxmlformats.org/officeDocument/2006/relationships/tags" Target="../tags/tag73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tags" Target="../tags/tag64.xml"/><Relationship Id="rId5" Type="http://schemas.openxmlformats.org/officeDocument/2006/relationships/tags" Target="../tags/tag58.xml"/><Relationship Id="rId15" Type="http://schemas.openxmlformats.org/officeDocument/2006/relationships/tags" Target="../tags/tag68.xml"/><Relationship Id="rId10" Type="http://schemas.openxmlformats.org/officeDocument/2006/relationships/tags" Target="../tags/tag63.xml"/><Relationship Id="rId19" Type="http://schemas.openxmlformats.org/officeDocument/2006/relationships/tags" Target="../tags/tag72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tags" Target="../tags/tag67.xml"/><Relationship Id="rId2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3" Type="http://schemas.openxmlformats.org/officeDocument/2006/relationships/tags" Target="../tags/tag76.xml"/><Relationship Id="rId7" Type="http://schemas.openxmlformats.org/officeDocument/2006/relationships/tags" Target="../tags/tag80.xml"/><Relationship Id="rId2" Type="http://schemas.openxmlformats.org/officeDocument/2006/relationships/tags" Target="../tags/tag75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image" Target="../media/image11.png"/><Relationship Id="rId5" Type="http://schemas.openxmlformats.org/officeDocument/2006/relationships/tags" Target="../tags/tag78.xml"/><Relationship Id="rId10" Type="http://schemas.openxmlformats.org/officeDocument/2006/relationships/image" Target="../media/image10.png"/><Relationship Id="rId4" Type="http://schemas.openxmlformats.org/officeDocument/2006/relationships/tags" Target="../tags/tag77.xml"/><Relationship Id="rId9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yv5azbvcqfjc/mnt/agents/output/skyedge/images/5_Picturing_Earth_in_a_New_Light_NASA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C0F0E">
                  <a:alpha val="94000"/>
                </a:srgbClr>
              </a:gs>
              <a:gs pos="50000">
                <a:srgbClr val="0C0F0E">
                  <a:alpha val="69000"/>
                </a:srgbClr>
              </a:gs>
              <a:gs pos="100000">
                <a:srgbClr val="0C0F0E">
                  <a:alpha val="38000"/>
                </a:srgbClr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956310" y="3935186"/>
            <a:ext cx="762000" cy="116114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1016000" y="3403600"/>
            <a:ext cx="8890000" cy="165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endParaRPr lang="en-US" sz="5200" dirty="0"/>
          </a:p>
          <a:p>
            <a:pPr algn="l">
              <a:lnSpc>
                <a:spcPct val="120000"/>
              </a:lnSpc>
            </a:pPr>
            <a:r>
              <a:rPr lang="en-US" sz="4000" kern="0" spc="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低空影像智能</a:t>
            </a:r>
            <a:r>
              <a:rPr lang="zh-CN" altLang="en-US" sz="4000" kern="0" spc="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巡检</a:t>
            </a:r>
            <a:r>
              <a:rPr lang="en-US" sz="4000" kern="0" spc="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系统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016000" y="5308600"/>
            <a:ext cx="762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200" kern="0" spc="2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全球数智教育创新大赛 · 空天信息赛道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56310" y="5969000"/>
            <a:ext cx="640969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8890000"/>
            <a:ext cx="16256000" cy="508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30000">
                <a:srgbClr val="10B981"/>
              </a:gs>
              <a:gs pos="70000">
                <a:srgbClr val="10B981"/>
              </a:gs>
              <a:gs pos="100000">
                <a:srgbClr val="10B981">
                  <a:alpha val="0"/>
                </a:srgbClr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635000"/>
            <a:ext cx="5080000" cy="635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62000" y="1371600"/>
            <a:ext cx="1016000" cy="508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762000" y="1905000"/>
            <a:ext cx="3429000" cy="6350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16000" y="2159000"/>
            <a:ext cx="2921000" cy="1016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4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01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016000" y="3302000"/>
            <a:ext cx="2921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项目概述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16000" y="3886200"/>
            <a:ext cx="508000" cy="381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016000" y="4114800"/>
            <a:ext cx="292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团队介绍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zh-CN" alt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政策、</a:t>
            </a:r>
            <a:r>
              <a:rPr lang="en-US" sz="1600" dirty="0" err="1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背景与痛点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项目目标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08500" y="1905000"/>
            <a:ext cx="3429000" cy="6350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762500" y="2159000"/>
            <a:ext cx="2921000" cy="1016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4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02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4762500" y="3302000"/>
            <a:ext cx="2921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系统架构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762500" y="3886200"/>
            <a:ext cx="508000" cy="381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762500" y="4114800"/>
            <a:ext cx="2921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系统总体架构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端到端业务流程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55000" y="1905000"/>
            <a:ext cx="3429000" cy="6350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509000" y="2159000"/>
            <a:ext cx="2921000" cy="1016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400" dirty="0">
                <a:solidFill>
                  <a:srgbClr val="10B981"/>
                </a:solidFill>
                <a:latin typeface="+mn-ea"/>
                <a:cs typeface="Liter" panose="02000503030000020004" pitchFamily="34" charset="-120"/>
              </a:rPr>
              <a:t>03</a:t>
            </a:r>
            <a:endParaRPr lang="en-US" sz="6400" dirty="0">
              <a:latin typeface="+mn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509000" y="3302000"/>
            <a:ext cx="2921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技术实现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509000" y="3886200"/>
            <a:ext cx="508000" cy="381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509000" y="4114800"/>
            <a:ext cx="2921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技术方法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创新点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001500" y="1905000"/>
            <a:ext cx="3429000" cy="6350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2255500" y="2159000"/>
            <a:ext cx="2921000" cy="1016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64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04</a:t>
            </a:r>
            <a:endParaRPr lang="en-US" sz="6400" dirty="0"/>
          </a:p>
        </p:txBody>
      </p:sp>
      <p:sp>
        <p:nvSpPr>
          <p:cNvPr id="21" name="Text 19"/>
          <p:cNvSpPr/>
          <p:nvPr/>
        </p:nvSpPr>
        <p:spPr>
          <a:xfrm>
            <a:off x="12255500" y="3302000"/>
            <a:ext cx="2921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成果与展望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2255500" y="3886200"/>
            <a:ext cx="508000" cy="381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2255500" y="4114800"/>
            <a:ext cx="2921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成果展示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 err="1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当前不足与</a:t>
            </a:r>
            <a:r>
              <a:rPr lang="en-US" altLang="zh-CN" sz="1600" dirty="0" err="1">
                <a:solidFill>
                  <a:srgbClr val="9CA3AF"/>
                </a:solidFill>
                <a:latin typeface="等线" panose="02010600030101010101" pitchFamily="2" charset="-122"/>
                <a:cs typeface="Liter" panose="02000503030000020004" pitchFamily="34" charset="-120"/>
              </a:rPr>
              <a:t>下一步计划</a:t>
            </a:r>
            <a:endParaRPr lang="en-US" altLang="zh-CN" sz="1600" dirty="0"/>
          </a:p>
          <a:p>
            <a:pPr algn="l">
              <a:lnSpc>
                <a:spcPct val="180000"/>
              </a:lnSpc>
            </a:pPr>
            <a:endParaRPr lang="en-US" sz="1600" dirty="0"/>
          </a:p>
          <a:p>
            <a:pPr algn="l">
              <a:lnSpc>
                <a:spcPct val="18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yv5azbvcqfjc/mnt/agents/output/skyedge/images/2_City_aerial_photography_Images_Fre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C0F0E">
                  <a:alpha val="94000"/>
                </a:srgbClr>
              </a:gs>
              <a:gs pos="55000">
                <a:srgbClr val="0C0F0E">
                  <a:alpha val="82000"/>
                </a:srgbClr>
              </a:gs>
              <a:gs pos="100000">
                <a:srgbClr val="0C0F0E">
                  <a:alpha val="50000"/>
                </a:srgbClr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016000" y="2286000"/>
            <a:ext cx="5080000" cy="127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01</a:t>
            </a:r>
            <a:endParaRPr lang="en-US" sz="9600" dirty="0"/>
          </a:p>
        </p:txBody>
      </p:sp>
      <p:sp>
        <p:nvSpPr>
          <p:cNvPr id="5" name="Shape 2"/>
          <p:cNvSpPr/>
          <p:nvPr/>
        </p:nvSpPr>
        <p:spPr>
          <a:xfrm>
            <a:off x="1016000" y="3810000"/>
            <a:ext cx="762000" cy="508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016000" y="4064000"/>
            <a:ext cx="762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kern="0" spc="1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项目概述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016000" y="4953000"/>
            <a:ext cx="762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kern="0" spc="1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团队介绍 · 背景痛点 · 项目目标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508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团队介绍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651000"/>
            <a:ext cx="6858000" cy="6604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270000" y="2159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19050"/>
                </a:moveTo>
                <a:cubicBezTo>
                  <a:pt x="359473" y="19050"/>
                  <a:pt x="403860" y="74534"/>
                  <a:pt x="403860" y="142875"/>
                </a:cubicBezTo>
                <a:cubicBezTo>
                  <a:pt x="403860" y="211216"/>
                  <a:pt x="359473" y="266700"/>
                  <a:pt x="304800" y="266700"/>
                </a:cubicBezTo>
                <a:cubicBezTo>
                  <a:pt x="250127" y="266700"/>
                  <a:pt x="205740" y="211216"/>
                  <a:pt x="205740" y="142875"/>
                </a:cubicBezTo>
                <a:cubicBezTo>
                  <a:pt x="205740" y="74534"/>
                  <a:pt x="250127" y="19050"/>
                  <a:pt x="304800" y="19050"/>
                </a:cubicBezTo>
                <a:close/>
                <a:moveTo>
                  <a:pt x="91440" y="104775"/>
                </a:moveTo>
                <a:cubicBezTo>
                  <a:pt x="129290" y="104775"/>
                  <a:pt x="160020" y="143187"/>
                  <a:pt x="160020" y="190500"/>
                </a:cubicBezTo>
                <a:cubicBezTo>
                  <a:pt x="160020" y="237813"/>
                  <a:pt x="129290" y="276225"/>
                  <a:pt x="91440" y="276225"/>
                </a:cubicBezTo>
                <a:cubicBezTo>
                  <a:pt x="53590" y="276225"/>
                  <a:pt x="22860" y="237813"/>
                  <a:pt x="22860" y="190500"/>
                </a:cubicBezTo>
                <a:cubicBezTo>
                  <a:pt x="22860" y="143187"/>
                  <a:pt x="53590" y="104775"/>
                  <a:pt x="91440" y="104775"/>
                </a:cubicBezTo>
                <a:close/>
                <a:moveTo>
                  <a:pt x="0" y="495300"/>
                </a:moveTo>
                <a:cubicBezTo>
                  <a:pt x="0" y="411123"/>
                  <a:pt x="54578" y="342900"/>
                  <a:pt x="121920" y="342900"/>
                </a:cubicBezTo>
                <a:cubicBezTo>
                  <a:pt x="134112" y="342900"/>
                  <a:pt x="145923" y="345162"/>
                  <a:pt x="157067" y="349329"/>
                </a:cubicBezTo>
                <a:cubicBezTo>
                  <a:pt x="125730" y="393144"/>
                  <a:pt x="106680" y="451009"/>
                  <a:pt x="106680" y="514350"/>
                </a:cubicBezTo>
                <a:lnTo>
                  <a:pt x="106680" y="533400"/>
                </a:lnTo>
                <a:cubicBezTo>
                  <a:pt x="106680" y="546973"/>
                  <a:pt x="108966" y="559832"/>
                  <a:pt x="113062" y="571500"/>
                </a:cubicBezTo>
                <a:lnTo>
                  <a:pt x="30480" y="571500"/>
                </a:lnTo>
                <a:cubicBezTo>
                  <a:pt x="13621" y="571500"/>
                  <a:pt x="0" y="554474"/>
                  <a:pt x="0" y="533400"/>
                </a:cubicBezTo>
                <a:lnTo>
                  <a:pt x="0" y="495300"/>
                </a:lnTo>
                <a:close/>
                <a:moveTo>
                  <a:pt x="496538" y="571500"/>
                </a:moveTo>
                <a:cubicBezTo>
                  <a:pt x="500634" y="559832"/>
                  <a:pt x="502920" y="546973"/>
                  <a:pt x="502920" y="533400"/>
                </a:cubicBezTo>
                <a:lnTo>
                  <a:pt x="502920" y="514350"/>
                </a:lnTo>
                <a:cubicBezTo>
                  <a:pt x="502920" y="451009"/>
                  <a:pt x="483870" y="393144"/>
                  <a:pt x="452533" y="349329"/>
                </a:cubicBezTo>
                <a:cubicBezTo>
                  <a:pt x="463677" y="345162"/>
                  <a:pt x="475488" y="342900"/>
                  <a:pt x="487680" y="342900"/>
                </a:cubicBezTo>
                <a:cubicBezTo>
                  <a:pt x="555022" y="342900"/>
                  <a:pt x="609600" y="411123"/>
                  <a:pt x="609600" y="495300"/>
                </a:cubicBezTo>
                <a:lnTo>
                  <a:pt x="609600" y="533400"/>
                </a:lnTo>
                <a:cubicBezTo>
                  <a:pt x="609600" y="554474"/>
                  <a:pt x="595979" y="571500"/>
                  <a:pt x="579120" y="571500"/>
                </a:cubicBezTo>
                <a:lnTo>
                  <a:pt x="496538" y="571500"/>
                </a:lnTo>
                <a:close/>
                <a:moveTo>
                  <a:pt x="449580" y="190500"/>
                </a:moveTo>
                <a:cubicBezTo>
                  <a:pt x="449580" y="143187"/>
                  <a:pt x="480310" y="104775"/>
                  <a:pt x="518160" y="104775"/>
                </a:cubicBezTo>
                <a:cubicBezTo>
                  <a:pt x="556010" y="104775"/>
                  <a:pt x="586740" y="143187"/>
                  <a:pt x="586740" y="190500"/>
                </a:cubicBezTo>
                <a:cubicBezTo>
                  <a:pt x="586740" y="237813"/>
                  <a:pt x="556010" y="276225"/>
                  <a:pt x="518160" y="276225"/>
                </a:cubicBezTo>
                <a:cubicBezTo>
                  <a:pt x="480310" y="276225"/>
                  <a:pt x="449580" y="237813"/>
                  <a:pt x="449580" y="190500"/>
                </a:cubicBezTo>
                <a:close/>
                <a:moveTo>
                  <a:pt x="152400" y="514350"/>
                </a:moveTo>
                <a:cubicBezTo>
                  <a:pt x="152400" y="409099"/>
                  <a:pt x="220599" y="323850"/>
                  <a:pt x="304800" y="323850"/>
                </a:cubicBezTo>
                <a:cubicBezTo>
                  <a:pt x="389001" y="323850"/>
                  <a:pt x="457200" y="409099"/>
                  <a:pt x="457200" y="514350"/>
                </a:cubicBezTo>
                <a:lnTo>
                  <a:pt x="457200" y="533400"/>
                </a:lnTo>
                <a:cubicBezTo>
                  <a:pt x="457200" y="554474"/>
                  <a:pt x="443579" y="571500"/>
                  <a:pt x="426720" y="571500"/>
                </a:cubicBezTo>
                <a:lnTo>
                  <a:pt x="182880" y="571500"/>
                </a:lnTo>
                <a:cubicBezTo>
                  <a:pt x="166021" y="571500"/>
                  <a:pt x="152400" y="554474"/>
                  <a:pt x="152400" y="533400"/>
                </a:cubicBezTo>
                <a:lnTo>
                  <a:pt x="152400" y="514350"/>
                </a:ln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2082800" y="2159000"/>
            <a:ext cx="3810000" cy="609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团队定位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70000" y="3048000"/>
            <a:ext cx="5842000" cy="203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专注于</a:t>
            </a:r>
            <a:r>
              <a:rPr lang="en-US" sz="1800" b="1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空天信息应用</a:t>
            </a:r>
            <a:r>
              <a:rPr lang="en-US" sz="1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与</a:t>
            </a:r>
            <a:r>
              <a:rPr lang="en-US" sz="1800" b="1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移动端智能解译技术</a:t>
            </a:r>
            <a:r>
              <a:rPr lang="en-US" sz="1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的跨学科团队，</a:t>
            </a:r>
            <a:r>
              <a:rPr lang="zh-CN" altLang="en-US" sz="1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团队成员来自中国人民大学智慧治理学院与中法学院。</a:t>
            </a:r>
          </a:p>
        </p:txBody>
      </p:sp>
      <p:sp>
        <p:nvSpPr>
          <p:cNvPr id="8" name="Shape 6"/>
          <p:cNvSpPr/>
          <p:nvPr/>
        </p:nvSpPr>
        <p:spPr>
          <a:xfrm>
            <a:off x="1270000" y="5334000"/>
            <a:ext cx="5842000" cy="12700"/>
          </a:xfrm>
          <a:prstGeom prst="rect">
            <a:avLst/>
          </a:prstGeom>
          <a:solidFill>
            <a:srgbClr val="374151"/>
          </a:solidFill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270000" y="571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74625" y="23812"/>
                </a:moveTo>
                <a:cubicBezTo>
                  <a:pt x="174625" y="10616"/>
                  <a:pt x="164009" y="0"/>
                  <a:pt x="150813" y="0"/>
                </a:cubicBezTo>
                <a:cubicBezTo>
                  <a:pt x="137616" y="0"/>
                  <a:pt x="127000" y="10616"/>
                  <a:pt x="127000" y="23812"/>
                </a:cubicBezTo>
                <a:lnTo>
                  <a:pt x="127000" y="63500"/>
                </a:lnTo>
                <a:cubicBezTo>
                  <a:pt x="91976" y="63500"/>
                  <a:pt x="63500" y="91976"/>
                  <a:pt x="63500" y="127000"/>
                </a:cubicBezTo>
                <a:lnTo>
                  <a:pt x="23812" y="127000"/>
                </a:lnTo>
                <a:cubicBezTo>
                  <a:pt x="10616" y="127000"/>
                  <a:pt x="0" y="137616"/>
                  <a:pt x="0" y="150813"/>
                </a:cubicBezTo>
                <a:cubicBezTo>
                  <a:pt x="0" y="164009"/>
                  <a:pt x="10616" y="174625"/>
                  <a:pt x="23812" y="174625"/>
                </a:cubicBezTo>
                <a:lnTo>
                  <a:pt x="63500" y="174625"/>
                </a:lnTo>
                <a:lnTo>
                  <a:pt x="63500" y="230188"/>
                </a:lnTo>
                <a:lnTo>
                  <a:pt x="23812" y="230188"/>
                </a:lnTo>
                <a:cubicBezTo>
                  <a:pt x="10616" y="230188"/>
                  <a:pt x="0" y="240804"/>
                  <a:pt x="0" y="254000"/>
                </a:cubicBezTo>
                <a:cubicBezTo>
                  <a:pt x="0" y="267196"/>
                  <a:pt x="10616" y="277813"/>
                  <a:pt x="23812" y="277813"/>
                </a:cubicBezTo>
                <a:lnTo>
                  <a:pt x="63500" y="277813"/>
                </a:lnTo>
                <a:lnTo>
                  <a:pt x="63500" y="333375"/>
                </a:lnTo>
                <a:lnTo>
                  <a:pt x="23812" y="333375"/>
                </a:lnTo>
                <a:cubicBezTo>
                  <a:pt x="10616" y="333375"/>
                  <a:pt x="0" y="343991"/>
                  <a:pt x="0" y="357188"/>
                </a:cubicBezTo>
                <a:cubicBezTo>
                  <a:pt x="0" y="370384"/>
                  <a:pt x="10616" y="381000"/>
                  <a:pt x="23812" y="381000"/>
                </a:cubicBezTo>
                <a:lnTo>
                  <a:pt x="63500" y="381000"/>
                </a:lnTo>
                <a:cubicBezTo>
                  <a:pt x="63500" y="416024"/>
                  <a:pt x="91976" y="444500"/>
                  <a:pt x="127000" y="444500"/>
                </a:cubicBezTo>
                <a:lnTo>
                  <a:pt x="127000" y="484187"/>
                </a:lnTo>
                <a:cubicBezTo>
                  <a:pt x="127000" y="497384"/>
                  <a:pt x="137616" y="508000"/>
                  <a:pt x="150813" y="508000"/>
                </a:cubicBezTo>
                <a:cubicBezTo>
                  <a:pt x="164009" y="508000"/>
                  <a:pt x="174625" y="497384"/>
                  <a:pt x="174625" y="484187"/>
                </a:cubicBezTo>
                <a:lnTo>
                  <a:pt x="174625" y="444500"/>
                </a:lnTo>
                <a:lnTo>
                  <a:pt x="230188" y="444500"/>
                </a:lnTo>
                <a:lnTo>
                  <a:pt x="230188" y="484187"/>
                </a:lnTo>
                <a:cubicBezTo>
                  <a:pt x="230188" y="497384"/>
                  <a:pt x="240804" y="508000"/>
                  <a:pt x="254000" y="508000"/>
                </a:cubicBezTo>
                <a:cubicBezTo>
                  <a:pt x="267196" y="508000"/>
                  <a:pt x="277813" y="497384"/>
                  <a:pt x="277813" y="484187"/>
                </a:cubicBezTo>
                <a:lnTo>
                  <a:pt x="277813" y="444500"/>
                </a:lnTo>
                <a:lnTo>
                  <a:pt x="333375" y="444500"/>
                </a:lnTo>
                <a:lnTo>
                  <a:pt x="333375" y="484187"/>
                </a:lnTo>
                <a:cubicBezTo>
                  <a:pt x="333375" y="497384"/>
                  <a:pt x="343991" y="508000"/>
                  <a:pt x="357188" y="508000"/>
                </a:cubicBezTo>
                <a:cubicBezTo>
                  <a:pt x="370384" y="508000"/>
                  <a:pt x="381000" y="497384"/>
                  <a:pt x="381000" y="484187"/>
                </a:cubicBezTo>
                <a:lnTo>
                  <a:pt x="381000" y="444500"/>
                </a:lnTo>
                <a:cubicBezTo>
                  <a:pt x="416024" y="444500"/>
                  <a:pt x="444500" y="416024"/>
                  <a:pt x="444500" y="381000"/>
                </a:cubicBezTo>
                <a:lnTo>
                  <a:pt x="484187" y="381000"/>
                </a:lnTo>
                <a:cubicBezTo>
                  <a:pt x="497384" y="381000"/>
                  <a:pt x="508000" y="370384"/>
                  <a:pt x="508000" y="357188"/>
                </a:cubicBezTo>
                <a:cubicBezTo>
                  <a:pt x="508000" y="343991"/>
                  <a:pt x="497384" y="333375"/>
                  <a:pt x="484187" y="333375"/>
                </a:cubicBezTo>
                <a:lnTo>
                  <a:pt x="444500" y="333375"/>
                </a:lnTo>
                <a:lnTo>
                  <a:pt x="444500" y="277813"/>
                </a:lnTo>
                <a:lnTo>
                  <a:pt x="484187" y="277813"/>
                </a:lnTo>
                <a:cubicBezTo>
                  <a:pt x="497384" y="277813"/>
                  <a:pt x="508000" y="267196"/>
                  <a:pt x="508000" y="254000"/>
                </a:cubicBezTo>
                <a:cubicBezTo>
                  <a:pt x="508000" y="240804"/>
                  <a:pt x="497384" y="230188"/>
                  <a:pt x="484187" y="230188"/>
                </a:cubicBezTo>
                <a:lnTo>
                  <a:pt x="444500" y="230188"/>
                </a:lnTo>
                <a:lnTo>
                  <a:pt x="444500" y="174625"/>
                </a:lnTo>
                <a:lnTo>
                  <a:pt x="484187" y="174625"/>
                </a:lnTo>
                <a:cubicBezTo>
                  <a:pt x="497384" y="174625"/>
                  <a:pt x="508000" y="164009"/>
                  <a:pt x="508000" y="150813"/>
                </a:cubicBezTo>
                <a:cubicBezTo>
                  <a:pt x="508000" y="137616"/>
                  <a:pt x="497384" y="127000"/>
                  <a:pt x="484187" y="127000"/>
                </a:cubicBezTo>
                <a:lnTo>
                  <a:pt x="444500" y="127000"/>
                </a:lnTo>
                <a:cubicBezTo>
                  <a:pt x="444500" y="91976"/>
                  <a:pt x="416024" y="63500"/>
                  <a:pt x="381000" y="63500"/>
                </a:cubicBezTo>
                <a:lnTo>
                  <a:pt x="381000" y="23812"/>
                </a:lnTo>
                <a:cubicBezTo>
                  <a:pt x="381000" y="10616"/>
                  <a:pt x="370384" y="0"/>
                  <a:pt x="357188" y="0"/>
                </a:cubicBezTo>
                <a:cubicBezTo>
                  <a:pt x="343991" y="0"/>
                  <a:pt x="333375" y="10616"/>
                  <a:pt x="333375" y="23812"/>
                </a:cubicBezTo>
                <a:lnTo>
                  <a:pt x="333375" y="63500"/>
                </a:lnTo>
                <a:lnTo>
                  <a:pt x="277813" y="63500"/>
                </a:lnTo>
                <a:lnTo>
                  <a:pt x="277813" y="23812"/>
                </a:lnTo>
                <a:cubicBezTo>
                  <a:pt x="277813" y="10616"/>
                  <a:pt x="267196" y="0"/>
                  <a:pt x="254000" y="0"/>
                </a:cubicBezTo>
                <a:cubicBezTo>
                  <a:pt x="240804" y="0"/>
                  <a:pt x="230188" y="10616"/>
                  <a:pt x="230188" y="23812"/>
                </a:cubicBezTo>
                <a:lnTo>
                  <a:pt x="230188" y="63500"/>
                </a:lnTo>
                <a:lnTo>
                  <a:pt x="174625" y="63500"/>
                </a:lnTo>
                <a:lnTo>
                  <a:pt x="174625" y="23812"/>
                </a:lnTo>
                <a:close/>
                <a:moveTo>
                  <a:pt x="158750" y="127000"/>
                </a:moveTo>
                <a:lnTo>
                  <a:pt x="349250" y="127000"/>
                </a:lnTo>
                <a:cubicBezTo>
                  <a:pt x="366812" y="127000"/>
                  <a:pt x="381000" y="141188"/>
                  <a:pt x="381000" y="158750"/>
                </a:cubicBezTo>
                <a:lnTo>
                  <a:pt x="381000" y="349250"/>
                </a:lnTo>
                <a:cubicBezTo>
                  <a:pt x="381000" y="366812"/>
                  <a:pt x="366812" y="381000"/>
                  <a:pt x="349250" y="381000"/>
                </a:cubicBezTo>
                <a:lnTo>
                  <a:pt x="158750" y="381000"/>
                </a:lnTo>
                <a:cubicBezTo>
                  <a:pt x="141188" y="381000"/>
                  <a:pt x="127000" y="366812"/>
                  <a:pt x="127000" y="349250"/>
                </a:cubicBezTo>
                <a:lnTo>
                  <a:pt x="127000" y="158750"/>
                </a:lnTo>
                <a:cubicBezTo>
                  <a:pt x="127000" y="141188"/>
                  <a:pt x="141188" y="127000"/>
                  <a:pt x="158750" y="127000"/>
                </a:cubicBezTo>
                <a:close/>
                <a:moveTo>
                  <a:pt x="174625" y="174625"/>
                </a:moveTo>
                <a:lnTo>
                  <a:pt x="174625" y="333375"/>
                </a:lnTo>
                <a:lnTo>
                  <a:pt x="333375" y="333375"/>
                </a:lnTo>
                <a:lnTo>
                  <a:pt x="333375" y="174625"/>
                </a:lnTo>
                <a:lnTo>
                  <a:pt x="174625" y="174625"/>
                </a:ln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930400" y="5715000"/>
            <a:ext cx="381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核心能力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70000" y="6413500"/>
            <a:ext cx="5842000" cy="1524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· 深度学习遥感影像语义分割与目标检测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· Android 移动端工程化开发与端侧推理部署</a:t>
            </a:r>
            <a:endParaRPr lang="en-US" sz="1600" dirty="0"/>
          </a:p>
          <a:p>
            <a:pPr algn="l">
              <a:lnSpc>
                <a:spcPct val="18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· GIS 空间数据处理与地图可视化</a:t>
            </a:r>
            <a:endParaRPr lang="en-US" sz="1600" dirty="0"/>
          </a:p>
        </p:txBody>
      </p:sp>
      <p:pic>
        <p:nvPicPr>
          <p:cNvPr id="12" name="Image 0" descr="https://kimi-img.moonshot.cn/pub/slides/okc/kyv5azbvcqfjc/mnt/agents/output/skyedge/images/7_Remote_Sensing_Images_Browse_97_29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128000" y="1651000"/>
            <a:ext cx="7366000" cy="66040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128000" y="1651000"/>
            <a:ext cx="7366000" cy="6604000"/>
          </a:xfrm>
          <a:prstGeom prst="rect">
            <a:avLst/>
          </a:prstGeom>
          <a:gradFill flip="none" rotWithShape="1">
            <a:gsLst>
              <a:gs pos="0">
                <a:srgbClr val="0C0F0E">
                  <a:alpha val="88000"/>
                </a:srgbClr>
              </a:gs>
              <a:gs pos="30000">
                <a:srgbClr val="0C0F0E">
                  <a:alpha val="50000"/>
                </a:srgbClr>
              </a:gs>
              <a:gs pos="100000">
                <a:srgbClr val="0C0F0E">
                  <a:alpha val="13000"/>
                </a:srgbClr>
              </a:gs>
            </a:gsLst>
            <a:lin ang="0" scaled="1"/>
          </a:gradFill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8890000" y="4064000"/>
            <a:ext cx="2540000" cy="889000"/>
          </a:xfrm>
          <a:prstGeom prst="rect">
            <a:avLst/>
          </a:prstGeom>
          <a:noFill/>
        </p:spPr>
        <p:txBody>
          <a:bodyPr wrap="none" lIns="0" tIns="0" rIns="0" bIns="0" rtlCol="0" anchor="b"/>
          <a:lstStyle/>
          <a:p>
            <a:pPr algn="l">
              <a:lnSpc>
                <a:spcPct val="110000"/>
              </a:lnSpc>
            </a:pPr>
            <a:endParaRPr lang="en-US" sz="5200" dirty="0"/>
          </a:p>
        </p:txBody>
      </p:sp>
      <p:sp>
        <p:nvSpPr>
          <p:cNvPr id="16" name="Text 13"/>
          <p:cNvSpPr/>
          <p:nvPr/>
        </p:nvSpPr>
        <p:spPr>
          <a:xfrm>
            <a:off x="12192000" y="4064000"/>
            <a:ext cx="2540000" cy="889000"/>
          </a:xfrm>
          <a:prstGeom prst="rect">
            <a:avLst/>
          </a:prstGeom>
          <a:noFill/>
        </p:spPr>
        <p:txBody>
          <a:bodyPr wrap="none" lIns="0" tIns="0" rIns="0" bIns="0" rtlCol="0" anchor="b"/>
          <a:lstStyle/>
          <a:p>
            <a:pPr algn="l">
              <a:lnSpc>
                <a:spcPct val="110000"/>
              </a:lnSpc>
            </a:pPr>
            <a:endParaRPr lang="en-US" sz="5200" dirty="0"/>
          </a:p>
        </p:txBody>
      </p:sp>
      <p:sp>
        <p:nvSpPr>
          <p:cNvPr id="18" name="Text 15"/>
          <p:cNvSpPr/>
          <p:nvPr/>
        </p:nvSpPr>
        <p:spPr>
          <a:xfrm>
            <a:off x="8890000" y="6096000"/>
            <a:ext cx="5842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62000" y="86360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01 项目概述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8952" y="630936"/>
            <a:ext cx="54864" cy="5120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7552" y="630936"/>
            <a:ext cx="7315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 err="1">
                <a:solidFill>
                  <a:srgbClr val="F9FAFB"/>
                </a:solidFill>
                <a:latin typeface="等线" panose="02010600030101010101" pitchFamily="2" charset="-122"/>
              </a:rPr>
              <a:t>形势与背景</a:t>
            </a:r>
            <a:endParaRPr sz="3200" b="0" dirty="0">
              <a:solidFill>
                <a:srgbClr val="F9FAFB"/>
              </a:solidFill>
              <a:latin typeface="等线" panose="02010600030101010101" pitchFamily="2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758825" y="1920240"/>
            <a:ext cx="4700270" cy="5274310"/>
          </a:xfrm>
          <a:prstGeom prst="roundRect">
            <a:avLst>
              <a:gd name="adj" fmla="val 5000"/>
            </a:avLst>
          </a:prstGeom>
          <a:solidFill>
            <a:srgbClr val="16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1078992" y="2240280"/>
            <a:ext cx="405993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 err="1">
                <a:solidFill>
                  <a:srgbClr val="10B980"/>
                </a:solidFill>
                <a:uFillTx/>
                <a:latin typeface="等线" panose="02010600030101010101" pitchFamily="2" charset="-122"/>
              </a:rPr>
              <a:t>政策与时代机遇</a:t>
            </a:r>
            <a:endParaRPr sz="2000" b="0" dirty="0">
              <a:solidFill>
                <a:srgbClr val="10B980"/>
              </a:solidFill>
              <a:uFillTx/>
              <a:latin typeface="等线" panose="02010600030101010101" pitchFamily="2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1078992" y="2788920"/>
            <a:ext cx="405993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buFont typeface="Arial" panose="020B0604020202020204" pitchFamily="34" charset="0"/>
              <a:buNone/>
            </a:pPr>
            <a:endParaRPr sz="1600" b="1" dirty="0">
              <a:solidFill>
                <a:srgbClr val="9CA3AF"/>
              </a:solidFill>
              <a:latin typeface="等线" panose="02010600030101010101" pitchFamily="2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1" dirty="0" err="1">
                <a:solidFill>
                  <a:srgbClr val="9CA3AF"/>
                </a:solidFill>
                <a:latin typeface="等线" panose="02010600030101010101" pitchFamily="2" charset="-122"/>
              </a:rPr>
              <a:t>十五五时期</a:t>
            </a:r>
            <a:r>
              <a:rPr sz="1600" b="0" dirty="0" err="1">
                <a:solidFill>
                  <a:srgbClr val="9CA3AF"/>
                </a:solidFill>
                <a:latin typeface="等线" panose="02010600030101010101" pitchFamily="2" charset="-122"/>
              </a:rPr>
              <a:t>，低空经济、数字应急、智慧城市和基层治理数字化进一步融合发展</a:t>
            </a:r>
            <a:r>
              <a:rPr sz="1600" b="0" dirty="0">
                <a:solidFill>
                  <a:srgbClr val="9CA3AF"/>
                </a:solidFill>
                <a:latin typeface="等线" panose="02010600030101010101" pitchFamily="2" charset="-122"/>
              </a:rPr>
              <a:t>。</a:t>
            </a:r>
          </a:p>
          <a:p>
            <a:pPr indent="0" algn="l">
              <a:buFont typeface="Arial" panose="020B0604020202020204" pitchFamily="34" charset="0"/>
              <a:buNone/>
            </a:pPr>
            <a:endParaRPr sz="1600" b="0" dirty="0">
              <a:solidFill>
                <a:srgbClr val="9CA3AF"/>
              </a:solidFill>
              <a:latin typeface="等线" panose="02010600030101010101" pitchFamily="2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9CA3AF"/>
                </a:solidFill>
                <a:latin typeface="等线" panose="02010600030101010101" pitchFamily="2" charset="-122"/>
              </a:rPr>
              <a:t>政策层面更加</a:t>
            </a:r>
            <a:r>
              <a:rPr sz="1600" b="1" dirty="0" err="1">
                <a:solidFill>
                  <a:srgbClr val="9CA3AF"/>
                </a:solidFill>
                <a:latin typeface="等线" panose="02010600030101010101" pitchFamily="2" charset="-122"/>
              </a:rPr>
              <a:t>重视新质生产力</a:t>
            </a:r>
            <a:r>
              <a:rPr sz="1600" b="0" dirty="0" err="1">
                <a:solidFill>
                  <a:srgbClr val="9CA3AF"/>
                </a:solidFill>
                <a:latin typeface="等线" panose="02010600030101010101" pitchFamily="2" charset="-122"/>
              </a:rPr>
              <a:t>、城市安全韧性、</a:t>
            </a:r>
            <a:r>
              <a:rPr sz="1600" b="1" dirty="0" err="1">
                <a:solidFill>
                  <a:srgbClr val="9CA3AF"/>
                </a:solidFill>
                <a:latin typeface="等线" panose="02010600030101010101" pitchFamily="2" charset="-122"/>
              </a:rPr>
              <a:t>应急管理现代化</a:t>
            </a:r>
            <a:r>
              <a:rPr sz="1600" b="0" dirty="0" err="1">
                <a:solidFill>
                  <a:srgbClr val="9CA3AF"/>
                </a:solidFill>
                <a:latin typeface="等线" panose="02010600030101010101" pitchFamily="2" charset="-122"/>
              </a:rPr>
              <a:t>与基层治理能力提升</a:t>
            </a:r>
            <a:r>
              <a:rPr lang="zh-CN" sz="1600" b="0" dirty="0">
                <a:solidFill>
                  <a:srgbClr val="9CA3AF"/>
                </a:solidFill>
                <a:latin typeface="等线" panose="02010600030101010101" pitchFamily="2" charset="-122"/>
              </a:rPr>
              <a:t>。</a:t>
            </a:r>
          </a:p>
          <a:p>
            <a:pPr indent="0" algn="l">
              <a:buFont typeface="Arial" panose="020B0604020202020204" pitchFamily="34" charset="0"/>
              <a:buNone/>
            </a:pPr>
            <a:endParaRPr lang="zh-CN" sz="1600" b="0" dirty="0">
              <a:solidFill>
                <a:srgbClr val="9CA3AF"/>
              </a:solidFill>
              <a:latin typeface="等线" panose="02010600030101010101" pitchFamily="2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9CA3AF"/>
                </a:solidFill>
                <a:latin typeface="等线" panose="02010600030101010101" pitchFamily="2" charset="-122"/>
              </a:rPr>
              <a:t>为低空影像智能核查提供明确应用方向</a:t>
            </a:r>
            <a:r>
              <a:rPr sz="1600" b="0" dirty="0">
                <a:solidFill>
                  <a:srgbClr val="9CA3AF"/>
                </a:solidFill>
                <a:latin typeface="等线" panose="02010600030101010101" pitchFamily="2" charset="-122"/>
              </a:rPr>
              <a:t>。</a:t>
            </a:r>
          </a:p>
        </p:txBody>
      </p:sp>
      <p:sp>
        <p:nvSpPr>
          <p:cNvPr id="8" name="Rounded Rectangle 7"/>
          <p:cNvSpPr/>
          <p:nvPr>
            <p:custDataLst>
              <p:tags r:id="rId4"/>
            </p:custDataLst>
          </p:nvPr>
        </p:nvSpPr>
        <p:spPr>
          <a:xfrm>
            <a:off x="5843270" y="1920240"/>
            <a:ext cx="4700270" cy="5274310"/>
          </a:xfrm>
          <a:prstGeom prst="roundRect">
            <a:avLst>
              <a:gd name="adj" fmla="val 5000"/>
            </a:avLst>
          </a:prstGeom>
          <a:solidFill>
            <a:srgbClr val="16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6163056" y="2240280"/>
            <a:ext cx="405993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sz="2000" b="0" dirty="0" err="1">
                <a:solidFill>
                  <a:srgbClr val="10B980"/>
                </a:solidFill>
                <a:uFillTx/>
                <a:latin typeface="等线" panose="02010600030101010101" pitchFamily="2" charset="-122"/>
              </a:rPr>
              <a:t>社会与行业现实</a:t>
            </a:r>
            <a:endParaRPr sz="2000" b="0" dirty="0">
              <a:solidFill>
                <a:srgbClr val="10B980"/>
              </a:solidFill>
              <a:uFillTx/>
              <a:latin typeface="等线" panose="02010600030101010101" pitchFamily="2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6163056" y="2788920"/>
            <a:ext cx="4059936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endParaRPr sz="1600" b="0" dirty="0">
              <a:solidFill>
                <a:srgbClr val="9CA3AF"/>
              </a:solidFill>
              <a:latin typeface="等线" panose="02010600030101010101" pitchFamily="2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9CA3AF"/>
                </a:solidFill>
                <a:latin typeface="等线" panose="02010600030101010101" pitchFamily="2" charset="-122"/>
              </a:rPr>
              <a:t>地震、洪涝、滑坡、台风等突发事件频发，对</a:t>
            </a:r>
            <a:r>
              <a:rPr sz="1600" b="1" dirty="0" err="1">
                <a:solidFill>
                  <a:srgbClr val="9CA3AF"/>
                </a:solidFill>
                <a:latin typeface="等线" panose="02010600030101010101" pitchFamily="2" charset="-122"/>
              </a:rPr>
              <a:t>现场信息获取</a:t>
            </a:r>
            <a:r>
              <a:rPr sz="1600" b="0" dirty="0" err="1">
                <a:solidFill>
                  <a:srgbClr val="9CA3AF"/>
                </a:solidFill>
                <a:latin typeface="等线" panose="02010600030101010101" pitchFamily="2" charset="-122"/>
              </a:rPr>
              <a:t>、灾情判断和快速上报提出更高要求</a:t>
            </a:r>
            <a:r>
              <a:rPr sz="1600" b="0" dirty="0">
                <a:solidFill>
                  <a:srgbClr val="9CA3AF"/>
                </a:solidFill>
                <a:latin typeface="等线" panose="02010600030101010101" pitchFamily="2" charset="-122"/>
              </a:rPr>
              <a:t>。</a:t>
            </a:r>
          </a:p>
          <a:p>
            <a:pPr indent="0" algn="l">
              <a:buFont typeface="Arial" panose="020B0604020202020204" pitchFamily="34" charset="0"/>
              <a:buNone/>
            </a:pPr>
            <a:endParaRPr sz="1600" b="0" dirty="0">
              <a:solidFill>
                <a:srgbClr val="9CA3AF"/>
              </a:solidFill>
              <a:latin typeface="等线" panose="02010600030101010101" pitchFamily="2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9CA3AF"/>
                </a:solidFill>
                <a:latin typeface="等线" panose="02010600030101010101" pitchFamily="2" charset="-122"/>
              </a:rPr>
              <a:t>无人机与低空遥感采集能力虽不断提升，但</a:t>
            </a:r>
            <a:r>
              <a:rPr sz="1600" b="1" dirty="0" err="1">
                <a:solidFill>
                  <a:srgbClr val="9CA3AF"/>
                </a:solidFill>
                <a:latin typeface="等线" panose="02010600030101010101" pitchFamily="2" charset="-122"/>
              </a:rPr>
              <a:t>基层一线</a:t>
            </a:r>
            <a:r>
              <a:rPr sz="1600" b="0" dirty="0" err="1">
                <a:solidFill>
                  <a:srgbClr val="9CA3AF"/>
                </a:solidFill>
                <a:latin typeface="等线" panose="02010600030101010101" pitchFamily="2" charset="-122"/>
              </a:rPr>
              <a:t>仍缺少低门槛、可移动、</a:t>
            </a:r>
            <a:r>
              <a:rPr sz="1600" b="1" dirty="0" err="1">
                <a:solidFill>
                  <a:srgbClr val="9CA3AF"/>
                </a:solidFill>
                <a:latin typeface="等线" panose="02010600030101010101" pitchFamily="2" charset="-122"/>
              </a:rPr>
              <a:t>可离线</a:t>
            </a:r>
            <a:r>
              <a:rPr sz="1600" b="0" dirty="0" err="1">
                <a:solidFill>
                  <a:srgbClr val="9CA3AF"/>
                </a:solidFill>
                <a:latin typeface="等线" panose="02010600030101010101" pitchFamily="2" charset="-122"/>
              </a:rPr>
              <a:t>、能快速形成核查结果的工具</a:t>
            </a:r>
            <a:r>
              <a:rPr lang="zh-CN" altLang="en-US" sz="1600" b="0" dirty="0">
                <a:solidFill>
                  <a:srgbClr val="9CA3AF"/>
                </a:solidFill>
                <a:latin typeface="等线" panose="02010600030101010101" pitchFamily="2" charset="-122"/>
              </a:rPr>
              <a:t>。</a:t>
            </a:r>
            <a:endParaRPr lang="en-US" altLang="zh-CN" sz="1600" b="0" dirty="0">
              <a:solidFill>
                <a:srgbClr val="9CA3AF"/>
              </a:solidFill>
              <a:latin typeface="等线" panose="02010600030101010101" pitchFamily="2" charset="-122"/>
            </a:endParaRPr>
          </a:p>
          <a:p>
            <a:pPr algn="l"/>
            <a:endParaRPr lang="en-US" altLang="zh-CN" sz="1600" b="0" dirty="0">
              <a:solidFill>
                <a:srgbClr val="9CA3AF"/>
              </a:solidFill>
              <a:latin typeface="等线" panose="02010600030101010101" pitchFamily="2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9CA3AF"/>
                </a:solidFill>
                <a:latin typeface="等线" panose="02010600030101010101" pitchFamily="2" charset="-122"/>
              </a:rPr>
              <a:t>一线巡检人员面临着弱网环境与数据敏感的问题，传统方案无法满足快速上报、提高效率的需求</a:t>
            </a:r>
            <a:endParaRPr lang="en-US" sz="1600" b="0" dirty="0">
              <a:solidFill>
                <a:srgbClr val="9CA3AF"/>
              </a:solidFill>
              <a:latin typeface="等线" panose="02010600030101010101" pitchFamily="2" charset="-122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sz="1600" b="0" dirty="0">
              <a:solidFill>
                <a:srgbClr val="9CA3AF"/>
              </a:solidFill>
              <a:latin typeface="等线" panose="02010600030101010101" pitchFamily="2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7"/>
            </p:custDataLst>
          </p:nvPr>
        </p:nvSpPr>
        <p:spPr>
          <a:xfrm>
            <a:off x="10927080" y="1920240"/>
            <a:ext cx="4700270" cy="5297170"/>
          </a:xfrm>
          <a:prstGeom prst="roundRect">
            <a:avLst>
              <a:gd name="adj" fmla="val 5000"/>
            </a:avLst>
          </a:prstGeom>
          <a:solidFill>
            <a:srgbClr val="162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11247120" y="2240280"/>
            <a:ext cx="405993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sz="2000" dirty="0" err="1">
                <a:solidFill>
                  <a:srgbClr val="10B980"/>
                </a:solidFill>
                <a:uFillTx/>
                <a:latin typeface="等线" panose="02010600030101010101" pitchFamily="2" charset="-122"/>
                <a:sym typeface="+mn-ea"/>
              </a:rPr>
              <a:t>典型事件与方案定位</a:t>
            </a:r>
            <a:endParaRPr sz="2000" b="0" dirty="0">
              <a:solidFill>
                <a:srgbClr val="10B980"/>
              </a:solidFill>
              <a:uFillTx/>
              <a:latin typeface="等线" panose="02010600030101010101" pitchFamily="2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11247120" y="2788285"/>
            <a:ext cx="405993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2025年西藏定日6.8级地震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2024年湖南华容洞庭湖决口</a:t>
            </a:r>
          </a:p>
          <a:p>
            <a:pPr algn="l"/>
            <a:endParaRPr sz="1600" dirty="0">
              <a:solidFill>
                <a:srgbClr val="9CA3AF"/>
              </a:solidFill>
              <a:latin typeface="等线" panose="02010600030101010101" pitchFamily="2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低空影像的价值不只是"</a:t>
            </a:r>
            <a:r>
              <a:rPr sz="1600" dirty="0" err="1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拍到现场</a:t>
            </a:r>
            <a:r>
              <a:rPr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"，</a:t>
            </a:r>
            <a:r>
              <a:rPr sz="1600" dirty="0" err="1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更重要的是让基层人员能够在现场把影像快速转化为可核查、可定位、可上报的行动信息</a:t>
            </a:r>
            <a:r>
              <a:rPr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。</a:t>
            </a:r>
          </a:p>
          <a:p>
            <a:pPr algn="l"/>
            <a:endParaRPr sz="1600" dirty="0">
              <a:solidFill>
                <a:srgbClr val="9CA3AF"/>
              </a:solidFill>
              <a:latin typeface="等线" panose="02010600030101010101" pitchFamily="2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1600" b="1" dirty="0" err="1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方案亮点</a:t>
            </a:r>
            <a:r>
              <a:rPr lang="zh-CN" altLang="en-US" sz="1600" b="1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：</a:t>
            </a:r>
            <a:endParaRPr lang="en-US" altLang="zh-CN" sz="1600" b="1" dirty="0">
              <a:solidFill>
                <a:srgbClr val="9CA3AF"/>
              </a:solidFill>
              <a:latin typeface="等线" panose="02010600030101010101" pitchFamily="2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将</a:t>
            </a:r>
            <a:r>
              <a:rPr lang="en-US" altLang="zh-CN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"AI</a:t>
            </a:r>
            <a:r>
              <a:rPr lang="zh-CN" altLang="en-US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识别结果</a:t>
            </a:r>
            <a:r>
              <a:rPr lang="en-US" altLang="zh-CN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"</a:t>
            </a:r>
            <a:r>
              <a:rPr lang="zh-CN" altLang="en-US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转化为一线人员可直接操作、</a:t>
            </a:r>
            <a:r>
              <a:rPr lang="zh-CN" altLang="en-US" sz="1600" b="1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复核、取证</a:t>
            </a:r>
            <a:r>
              <a:rPr lang="zh-CN" altLang="en-US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和上报的</a:t>
            </a:r>
            <a:r>
              <a:rPr lang="zh-CN" altLang="en-US" sz="1600" b="1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现场工作闭环</a:t>
            </a:r>
            <a:r>
              <a:rPr lang="zh-CN" altLang="en-US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，实现</a:t>
            </a:r>
            <a:r>
              <a:rPr lang="en-US" altLang="zh-CN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"</a:t>
            </a:r>
            <a:r>
              <a:rPr lang="zh-CN" altLang="en-US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导入影像</a:t>
            </a:r>
            <a:r>
              <a:rPr lang="en-US" altLang="zh-CN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—</a:t>
            </a:r>
            <a:r>
              <a:rPr lang="zh-CN" altLang="en-US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智能识别</a:t>
            </a:r>
            <a:r>
              <a:rPr lang="en-US" altLang="zh-CN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—</a:t>
            </a:r>
            <a:r>
              <a:rPr lang="zh-CN" altLang="en-US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人工复核</a:t>
            </a:r>
            <a:r>
              <a:rPr lang="en-US" altLang="zh-CN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—</a:t>
            </a:r>
            <a:r>
              <a:rPr lang="zh-CN" altLang="en-US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证据留存</a:t>
            </a:r>
            <a:r>
              <a:rPr lang="en-US" altLang="zh-CN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—</a:t>
            </a:r>
            <a:r>
              <a:rPr lang="zh-CN" altLang="en-US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结果导出</a:t>
            </a:r>
            <a:r>
              <a:rPr lang="en-US" altLang="zh-CN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"</a:t>
            </a:r>
            <a:r>
              <a:rPr lang="zh-CN" altLang="en-US" sz="1600" dirty="0">
                <a:solidFill>
                  <a:srgbClr val="9CA3AF"/>
                </a:solidFill>
                <a:latin typeface="等线" panose="02010600030101010101" pitchFamily="2" charset="-122"/>
                <a:sym typeface="+mn-ea"/>
              </a:rPr>
              <a:t>完整链路</a:t>
            </a:r>
            <a:endParaRPr lang="en-US" sz="1600" b="1" dirty="0">
              <a:solidFill>
                <a:srgbClr val="9CA3AF"/>
              </a:solidFill>
              <a:latin typeface="等线" panose="02010600030101010101" pitchFamily="2" charset="-122"/>
              <a:sym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sz="1600" b="1" dirty="0">
              <a:solidFill>
                <a:srgbClr val="9CA3AF"/>
              </a:solidFill>
              <a:latin typeface="等线" panose="02010600030101010101" pitchFamily="2" charset="-122"/>
              <a:sym typeface="+mn-ea"/>
            </a:endParaRPr>
          </a:p>
          <a:p>
            <a:pPr algn="l"/>
            <a:endParaRPr sz="1600" dirty="0">
              <a:solidFill>
                <a:srgbClr val="9CA3AF"/>
              </a:solidFill>
              <a:latin typeface="等线" panose="02010600030101010101" pitchFamily="2" charset="-122"/>
              <a:sym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8952" y="8631936"/>
            <a:ext cx="25420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9CA3AF"/>
                </a:solidFill>
                <a:latin typeface="等线" panose="02010600030101010101" pitchFamily="2" charset="-122"/>
              </a:rPr>
              <a:t>01 </a:t>
            </a:r>
            <a:r>
              <a:rPr sz="1400" b="0" dirty="0" err="1">
                <a:solidFill>
                  <a:srgbClr val="9CA3AF"/>
                </a:solidFill>
                <a:latin typeface="等线" panose="02010600030101010101" pitchFamily="2" charset="-122"/>
              </a:rPr>
              <a:t>项目概述</a:t>
            </a:r>
            <a:endParaRPr sz="1400" b="0" dirty="0">
              <a:solidFill>
                <a:srgbClr val="9CA3AF"/>
              </a:solidFill>
              <a:latin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508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zh-CN" altLang="en-US" sz="3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核心</a:t>
            </a:r>
            <a:r>
              <a:rPr lang="en-US" sz="3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痛点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762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kern="0" spc="200" dirty="0">
                <a:solidFill>
                  <a:schemeClr val="accent6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应用场景：基层低空巡检 · 城市违建识别 · 灾情应急核查</a:t>
            </a:r>
          </a:p>
        </p:txBody>
      </p:sp>
      <p:sp>
        <p:nvSpPr>
          <p:cNvPr id="5" name="Shape 3"/>
          <p:cNvSpPr/>
          <p:nvPr/>
        </p:nvSpPr>
        <p:spPr>
          <a:xfrm>
            <a:off x="762000" y="2222500"/>
            <a:ext cx="4699000" cy="3048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79500" y="254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85725"/>
                </a:moveTo>
                <a:cubicBezTo>
                  <a:pt x="156448" y="85725"/>
                  <a:pt x="91123" y="117872"/>
                  <a:pt x="43101" y="170200"/>
                </a:cubicBezTo>
                <a:cubicBezTo>
                  <a:pt x="33020" y="181183"/>
                  <a:pt x="16907" y="180915"/>
                  <a:pt x="7223" y="169575"/>
                </a:cubicBezTo>
                <a:cubicBezTo>
                  <a:pt x="-2461" y="158234"/>
                  <a:pt x="-2302" y="140107"/>
                  <a:pt x="7779" y="129213"/>
                </a:cubicBezTo>
                <a:cubicBezTo>
                  <a:pt x="64849" y="66883"/>
                  <a:pt x="142796" y="28575"/>
                  <a:pt x="228600" y="28575"/>
                </a:cubicBezTo>
                <a:cubicBezTo>
                  <a:pt x="314404" y="28575"/>
                  <a:pt x="392351" y="66883"/>
                  <a:pt x="449501" y="129213"/>
                </a:cubicBezTo>
                <a:cubicBezTo>
                  <a:pt x="459581" y="140196"/>
                  <a:pt x="459819" y="158323"/>
                  <a:pt x="450056" y="169575"/>
                </a:cubicBezTo>
                <a:cubicBezTo>
                  <a:pt x="440293" y="180826"/>
                  <a:pt x="424180" y="181183"/>
                  <a:pt x="414179" y="170200"/>
                </a:cubicBezTo>
                <a:cubicBezTo>
                  <a:pt x="366077" y="117872"/>
                  <a:pt x="300752" y="85725"/>
                  <a:pt x="228600" y="85725"/>
                </a:cubicBezTo>
                <a:close/>
                <a:moveTo>
                  <a:pt x="190500" y="385763"/>
                </a:moveTo>
                <a:cubicBezTo>
                  <a:pt x="190500" y="362106"/>
                  <a:pt x="207572" y="342900"/>
                  <a:pt x="228600" y="342900"/>
                </a:cubicBezTo>
                <a:cubicBezTo>
                  <a:pt x="249628" y="342900"/>
                  <a:pt x="266700" y="362106"/>
                  <a:pt x="266700" y="385763"/>
                </a:cubicBezTo>
                <a:cubicBezTo>
                  <a:pt x="266700" y="409419"/>
                  <a:pt x="249628" y="428625"/>
                  <a:pt x="228600" y="428625"/>
                </a:cubicBezTo>
                <a:cubicBezTo>
                  <a:pt x="207572" y="428625"/>
                  <a:pt x="190500" y="409419"/>
                  <a:pt x="190500" y="385763"/>
                </a:cubicBezTo>
                <a:close/>
                <a:moveTo>
                  <a:pt x="133350" y="291286"/>
                </a:moveTo>
                <a:cubicBezTo>
                  <a:pt x="124063" y="303163"/>
                  <a:pt x="108029" y="304234"/>
                  <a:pt x="97473" y="293787"/>
                </a:cubicBezTo>
                <a:cubicBezTo>
                  <a:pt x="86916" y="283339"/>
                  <a:pt x="85963" y="265301"/>
                  <a:pt x="95250" y="253425"/>
                </a:cubicBezTo>
                <a:cubicBezTo>
                  <a:pt x="127794" y="211991"/>
                  <a:pt x="175498" y="185738"/>
                  <a:pt x="228600" y="185738"/>
                </a:cubicBezTo>
                <a:cubicBezTo>
                  <a:pt x="281702" y="185738"/>
                  <a:pt x="329406" y="211991"/>
                  <a:pt x="361950" y="253425"/>
                </a:cubicBezTo>
                <a:cubicBezTo>
                  <a:pt x="371237" y="265301"/>
                  <a:pt x="370205" y="283339"/>
                  <a:pt x="359728" y="293787"/>
                </a:cubicBezTo>
                <a:cubicBezTo>
                  <a:pt x="349250" y="304234"/>
                  <a:pt x="333137" y="303074"/>
                  <a:pt x="323850" y="291286"/>
                </a:cubicBezTo>
                <a:cubicBezTo>
                  <a:pt x="300514" y="261551"/>
                  <a:pt x="266541" y="242888"/>
                  <a:pt x="228600" y="242888"/>
                </a:cubicBezTo>
                <a:cubicBezTo>
                  <a:pt x="190659" y="242888"/>
                  <a:pt x="156686" y="261551"/>
                  <a:pt x="133350" y="291286"/>
                </a:cubicBezTo>
                <a:close/>
              </a:path>
            </a:pathLst>
          </a:custGeom>
          <a:solidFill>
            <a:srgbClr val="E9EBF0"/>
          </a:solidFill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79500" y="3175000"/>
            <a:ext cx="406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网络依赖严重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79500" y="3683000"/>
            <a:ext cx="4064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现场网络条件差，</a:t>
            </a:r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无法实时上传影像数据，</a:t>
            </a:r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严重影响核查效率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222500"/>
            <a:ext cx="4699000" cy="3048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096000" y="254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8100" y="174843"/>
                </a:moveTo>
                <a:lnTo>
                  <a:pt x="204152" y="251728"/>
                </a:lnTo>
                <a:cubicBezTo>
                  <a:pt x="211931" y="255300"/>
                  <a:pt x="220186" y="257175"/>
                  <a:pt x="228600" y="257175"/>
                </a:cubicBezTo>
                <a:cubicBezTo>
                  <a:pt x="237014" y="257175"/>
                  <a:pt x="245269" y="255300"/>
                  <a:pt x="253048" y="251728"/>
                </a:cubicBezTo>
                <a:lnTo>
                  <a:pt x="445453" y="162610"/>
                </a:lnTo>
                <a:cubicBezTo>
                  <a:pt x="452596" y="159306"/>
                  <a:pt x="457200" y="151537"/>
                  <a:pt x="457200" y="142875"/>
                </a:cubicBezTo>
                <a:cubicBezTo>
                  <a:pt x="457200" y="134213"/>
                  <a:pt x="452596" y="126444"/>
                  <a:pt x="445453" y="123140"/>
                </a:cubicBezTo>
                <a:lnTo>
                  <a:pt x="253048" y="34022"/>
                </a:lnTo>
                <a:cubicBezTo>
                  <a:pt x="245269" y="30450"/>
                  <a:pt x="237014" y="28575"/>
                  <a:pt x="228600" y="28575"/>
                </a:cubicBezTo>
                <a:cubicBezTo>
                  <a:pt x="220186" y="28575"/>
                  <a:pt x="211931" y="30450"/>
                  <a:pt x="204152" y="34022"/>
                </a:cubicBezTo>
                <a:lnTo>
                  <a:pt x="11748" y="123140"/>
                </a:lnTo>
                <a:cubicBezTo>
                  <a:pt x="4604" y="126444"/>
                  <a:pt x="0" y="134213"/>
                  <a:pt x="0" y="142875"/>
                </a:cubicBezTo>
                <a:lnTo>
                  <a:pt x="0" y="407194"/>
                </a:lnTo>
                <a:cubicBezTo>
                  <a:pt x="0" y="419070"/>
                  <a:pt x="8493" y="428625"/>
                  <a:pt x="19050" y="428625"/>
                </a:cubicBezTo>
                <a:cubicBezTo>
                  <a:pt x="29607" y="428625"/>
                  <a:pt x="38100" y="419070"/>
                  <a:pt x="38100" y="407194"/>
                </a:cubicBezTo>
                <a:lnTo>
                  <a:pt x="38100" y="174843"/>
                </a:lnTo>
                <a:close/>
                <a:moveTo>
                  <a:pt x="76200" y="238869"/>
                </a:moveTo>
                <a:lnTo>
                  <a:pt x="76200" y="342900"/>
                </a:lnTo>
                <a:cubicBezTo>
                  <a:pt x="76200" y="390227"/>
                  <a:pt x="144463" y="428625"/>
                  <a:pt x="228600" y="428625"/>
                </a:cubicBezTo>
                <a:cubicBezTo>
                  <a:pt x="312738" y="428625"/>
                  <a:pt x="381000" y="390227"/>
                  <a:pt x="381000" y="342900"/>
                </a:cubicBezTo>
                <a:lnTo>
                  <a:pt x="381000" y="238780"/>
                </a:lnTo>
                <a:lnTo>
                  <a:pt x="267573" y="291376"/>
                </a:lnTo>
                <a:cubicBezTo>
                  <a:pt x="255191" y="297091"/>
                  <a:pt x="242014" y="300037"/>
                  <a:pt x="228600" y="300037"/>
                </a:cubicBezTo>
                <a:cubicBezTo>
                  <a:pt x="215186" y="300037"/>
                  <a:pt x="202009" y="297091"/>
                  <a:pt x="189627" y="291376"/>
                </a:cubicBezTo>
                <a:lnTo>
                  <a:pt x="76200" y="238780"/>
                </a:ln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096000" y="3175000"/>
            <a:ext cx="406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专业门槛极高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096000" y="3683000"/>
            <a:ext cx="4064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GIS工具操作复杂，</a:t>
            </a:r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非专业人员难以使用，</a:t>
            </a:r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限制基层人员参与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222500"/>
            <a:ext cx="4699000" cy="3048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1112500" y="254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ubicBezTo>
                  <a:pt x="0" y="102432"/>
                  <a:pt x="102432" y="0"/>
                  <a:pt x="228600" y="0"/>
                </a:cubicBezTo>
                <a:close/>
                <a:moveTo>
                  <a:pt x="207169" y="107156"/>
                </a:moveTo>
                <a:lnTo>
                  <a:pt x="207169" y="228600"/>
                </a:lnTo>
                <a:cubicBezTo>
                  <a:pt x="207169" y="235744"/>
                  <a:pt x="210741" y="242441"/>
                  <a:pt x="216724" y="246459"/>
                </a:cubicBezTo>
                <a:lnTo>
                  <a:pt x="302449" y="303609"/>
                </a:lnTo>
                <a:cubicBezTo>
                  <a:pt x="312271" y="310217"/>
                  <a:pt x="325576" y="307538"/>
                  <a:pt x="332184" y="297626"/>
                </a:cubicBezTo>
                <a:cubicBezTo>
                  <a:pt x="338792" y="287715"/>
                  <a:pt x="336113" y="274499"/>
                  <a:pt x="326201" y="267891"/>
                </a:cubicBezTo>
                <a:lnTo>
                  <a:pt x="250031" y="217170"/>
                </a:lnTo>
                <a:lnTo>
                  <a:pt x="250031" y="107156"/>
                </a:lnTo>
                <a:cubicBezTo>
                  <a:pt x="250031" y="95280"/>
                  <a:pt x="240476" y="85725"/>
                  <a:pt x="228600" y="85725"/>
                </a:cubicBezTo>
                <a:cubicBezTo>
                  <a:pt x="216724" y="85725"/>
                  <a:pt x="207169" y="95280"/>
                  <a:pt x="207169" y="107156"/>
                </a:cubicBez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1112500" y="3175000"/>
            <a:ext cx="4064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信息严重滞后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112500" y="3683000"/>
            <a:ext cx="4064000" cy="1270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识别结果难以及时核查上报，</a:t>
            </a:r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延误最佳决策时机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588000"/>
            <a:ext cx="7175500" cy="3048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079500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2544" y="-22235"/>
                </a:moveTo>
                <a:cubicBezTo>
                  <a:pt x="25083" y="-30629"/>
                  <a:pt x="13017" y="-30629"/>
                  <a:pt x="5636" y="-22235"/>
                </a:cubicBezTo>
                <a:cubicBezTo>
                  <a:pt x="-1746" y="-13841"/>
                  <a:pt x="-1826" y="-268"/>
                  <a:pt x="5556" y="8126"/>
                </a:cubicBezTo>
                <a:lnTo>
                  <a:pt x="424656" y="479614"/>
                </a:lnTo>
                <a:cubicBezTo>
                  <a:pt x="432118" y="488007"/>
                  <a:pt x="444183" y="488007"/>
                  <a:pt x="451564" y="479614"/>
                </a:cubicBezTo>
                <a:cubicBezTo>
                  <a:pt x="458946" y="471220"/>
                  <a:pt x="459026" y="457646"/>
                  <a:pt x="451564" y="449342"/>
                </a:cubicBezTo>
                <a:lnTo>
                  <a:pt x="354727" y="340400"/>
                </a:lnTo>
                <a:cubicBezTo>
                  <a:pt x="358061" y="337364"/>
                  <a:pt x="361315" y="334060"/>
                  <a:pt x="364331" y="330666"/>
                </a:cubicBezTo>
                <a:lnTo>
                  <a:pt x="420767" y="267176"/>
                </a:lnTo>
                <a:cubicBezTo>
                  <a:pt x="444024" y="241012"/>
                  <a:pt x="457121" y="205472"/>
                  <a:pt x="457121" y="168414"/>
                </a:cubicBezTo>
                <a:cubicBezTo>
                  <a:pt x="457121" y="91261"/>
                  <a:pt x="401558" y="28664"/>
                  <a:pt x="332899" y="28664"/>
                </a:cubicBezTo>
                <a:cubicBezTo>
                  <a:pt x="303292" y="28664"/>
                  <a:pt x="274876" y="40541"/>
                  <a:pt x="252492" y="61883"/>
                </a:cubicBezTo>
                <a:cubicBezTo>
                  <a:pt x="268605" y="70902"/>
                  <a:pt x="283210" y="82868"/>
                  <a:pt x="295751" y="97155"/>
                </a:cubicBezTo>
                <a:cubicBezTo>
                  <a:pt x="306943" y="89743"/>
                  <a:pt x="319723" y="85814"/>
                  <a:pt x="332899" y="85814"/>
                </a:cubicBezTo>
                <a:cubicBezTo>
                  <a:pt x="373459" y="85814"/>
                  <a:pt x="406321" y="122783"/>
                  <a:pt x="406321" y="168414"/>
                </a:cubicBezTo>
                <a:cubicBezTo>
                  <a:pt x="406321" y="190292"/>
                  <a:pt x="398621" y="211276"/>
                  <a:pt x="384810" y="226814"/>
                </a:cubicBezTo>
                <a:lnTo>
                  <a:pt x="328374" y="290304"/>
                </a:lnTo>
                <a:cubicBezTo>
                  <a:pt x="325279" y="293787"/>
                  <a:pt x="321945" y="296912"/>
                  <a:pt x="318373" y="299680"/>
                </a:cubicBezTo>
                <a:lnTo>
                  <a:pt x="280670" y="257264"/>
                </a:lnTo>
                <a:cubicBezTo>
                  <a:pt x="293767" y="256461"/>
                  <a:pt x="304244" y="244406"/>
                  <a:pt x="304641" y="229493"/>
                </a:cubicBezTo>
                <a:cubicBezTo>
                  <a:pt x="304641" y="228332"/>
                  <a:pt x="304641" y="227171"/>
                  <a:pt x="304641" y="226010"/>
                </a:cubicBezTo>
                <a:cubicBezTo>
                  <a:pt x="304641" y="148947"/>
                  <a:pt x="249158" y="85904"/>
                  <a:pt x="180419" y="85904"/>
                </a:cubicBezTo>
                <a:cubicBezTo>
                  <a:pt x="165179" y="85904"/>
                  <a:pt x="150336" y="89029"/>
                  <a:pt x="136366" y="95012"/>
                </a:cubicBezTo>
                <a:lnTo>
                  <a:pt x="32544" y="-22235"/>
                </a:lnTo>
                <a:close/>
                <a:moveTo>
                  <a:pt x="179308" y="142875"/>
                </a:moveTo>
                <a:cubicBezTo>
                  <a:pt x="179784" y="142875"/>
                  <a:pt x="180181" y="142875"/>
                  <a:pt x="180658" y="142875"/>
                </a:cubicBezTo>
                <a:cubicBezTo>
                  <a:pt x="192643" y="142875"/>
                  <a:pt x="204073" y="146179"/>
                  <a:pt x="214074" y="151983"/>
                </a:cubicBezTo>
                <a:cubicBezTo>
                  <a:pt x="215503" y="153055"/>
                  <a:pt x="216932" y="154037"/>
                  <a:pt x="218440" y="154751"/>
                </a:cubicBezTo>
                <a:cubicBezTo>
                  <a:pt x="239713" y="169307"/>
                  <a:pt x="254000" y="195739"/>
                  <a:pt x="254000" y="225832"/>
                </a:cubicBezTo>
                <a:cubicBezTo>
                  <a:pt x="254000" y="226189"/>
                  <a:pt x="254000" y="226546"/>
                  <a:pt x="254000" y="226903"/>
                </a:cubicBezTo>
                <a:lnTo>
                  <a:pt x="179308" y="142875"/>
                </a:lnTo>
                <a:close/>
                <a:moveTo>
                  <a:pt x="274796" y="371475"/>
                </a:moveTo>
                <a:lnTo>
                  <a:pt x="152400" y="233779"/>
                </a:lnTo>
                <a:cubicBezTo>
                  <a:pt x="153353" y="309324"/>
                  <a:pt x="207645" y="370314"/>
                  <a:pt x="274717" y="371386"/>
                </a:cubicBezTo>
                <a:close/>
                <a:moveTo>
                  <a:pt x="110887" y="187077"/>
                </a:moveTo>
                <a:lnTo>
                  <a:pt x="74930" y="146625"/>
                </a:lnTo>
                <a:lnTo>
                  <a:pt x="36354" y="190024"/>
                </a:lnTo>
                <a:cubicBezTo>
                  <a:pt x="13097" y="216188"/>
                  <a:pt x="0" y="251728"/>
                  <a:pt x="0" y="288786"/>
                </a:cubicBezTo>
                <a:cubicBezTo>
                  <a:pt x="0" y="365939"/>
                  <a:pt x="55563" y="428536"/>
                  <a:pt x="124222" y="428536"/>
                </a:cubicBezTo>
                <a:cubicBezTo>
                  <a:pt x="153749" y="428536"/>
                  <a:pt x="182245" y="416659"/>
                  <a:pt x="204629" y="395317"/>
                </a:cubicBezTo>
                <a:cubicBezTo>
                  <a:pt x="188516" y="386298"/>
                  <a:pt x="173831" y="374333"/>
                  <a:pt x="161290" y="360045"/>
                </a:cubicBezTo>
                <a:cubicBezTo>
                  <a:pt x="150178" y="367367"/>
                  <a:pt x="137398" y="371296"/>
                  <a:pt x="124222" y="371296"/>
                </a:cubicBezTo>
                <a:cubicBezTo>
                  <a:pt x="83661" y="371296"/>
                  <a:pt x="50800" y="334328"/>
                  <a:pt x="50800" y="288697"/>
                </a:cubicBezTo>
                <a:cubicBezTo>
                  <a:pt x="50800" y="266819"/>
                  <a:pt x="58499" y="245834"/>
                  <a:pt x="72311" y="230297"/>
                </a:cubicBezTo>
                <a:lnTo>
                  <a:pt x="110887" y="186898"/>
                </a:ln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79500" y="6540500"/>
            <a:ext cx="6540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流程环节脱节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79500" y="7048500"/>
            <a:ext cx="65405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影像采集、识别、核查、上报各环节割裂，缺乏统一闭环工作流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18500" y="5588000"/>
            <a:ext cx="7175500" cy="3048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636000" y="5905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0" y="0"/>
                </a:moveTo>
                <a:cubicBezTo>
                  <a:pt x="48181" y="0"/>
                  <a:pt x="25400" y="25628"/>
                  <a:pt x="25400" y="57150"/>
                </a:cubicBezTo>
                <a:lnTo>
                  <a:pt x="25400" y="400050"/>
                </a:lnTo>
                <a:cubicBezTo>
                  <a:pt x="25400" y="431572"/>
                  <a:pt x="48181" y="457200"/>
                  <a:pt x="76200" y="457200"/>
                </a:cubicBezTo>
                <a:lnTo>
                  <a:pt x="219075" y="457200"/>
                </a:lnTo>
                <a:cubicBezTo>
                  <a:pt x="201057" y="429071"/>
                  <a:pt x="190500" y="394514"/>
                  <a:pt x="190500" y="357188"/>
                </a:cubicBezTo>
                <a:cubicBezTo>
                  <a:pt x="190500" y="267355"/>
                  <a:pt x="251936" y="193596"/>
                  <a:pt x="330200" y="186363"/>
                </a:cubicBezTo>
                <a:lnTo>
                  <a:pt x="330200" y="152340"/>
                </a:lnTo>
                <a:cubicBezTo>
                  <a:pt x="330200" y="137160"/>
                  <a:pt x="324882" y="122605"/>
                  <a:pt x="315357" y="111889"/>
                </a:cubicBezTo>
                <a:lnTo>
                  <a:pt x="230743" y="16699"/>
                </a:lnTo>
                <a:cubicBezTo>
                  <a:pt x="221218" y="5983"/>
                  <a:pt x="208359" y="0"/>
                  <a:pt x="194866" y="0"/>
                </a:cubicBezTo>
                <a:lnTo>
                  <a:pt x="76200" y="0"/>
                </a:lnTo>
                <a:close/>
                <a:moveTo>
                  <a:pt x="283766" y="157163"/>
                </a:moveTo>
                <a:lnTo>
                  <a:pt x="209550" y="157163"/>
                </a:lnTo>
                <a:cubicBezTo>
                  <a:pt x="198993" y="157163"/>
                  <a:pt x="190500" y="147608"/>
                  <a:pt x="190500" y="135731"/>
                </a:cubicBezTo>
                <a:lnTo>
                  <a:pt x="190500" y="52239"/>
                </a:lnTo>
                <a:lnTo>
                  <a:pt x="283766" y="157163"/>
                </a:lnTo>
                <a:close/>
                <a:moveTo>
                  <a:pt x="342900" y="485775"/>
                </a:moveTo>
                <a:cubicBezTo>
                  <a:pt x="405984" y="485775"/>
                  <a:pt x="457200" y="428157"/>
                  <a:pt x="457200" y="357188"/>
                </a:cubicBezTo>
                <a:cubicBezTo>
                  <a:pt x="457200" y="286218"/>
                  <a:pt x="405984" y="228600"/>
                  <a:pt x="342900" y="228600"/>
                </a:cubicBezTo>
                <a:cubicBezTo>
                  <a:pt x="279816" y="228600"/>
                  <a:pt x="228600" y="286218"/>
                  <a:pt x="228600" y="357188"/>
                </a:cubicBezTo>
                <a:cubicBezTo>
                  <a:pt x="228600" y="428157"/>
                  <a:pt x="279816" y="485775"/>
                  <a:pt x="342900" y="485775"/>
                </a:cubicBezTo>
                <a:close/>
                <a:moveTo>
                  <a:pt x="389969" y="324416"/>
                </a:moveTo>
                <a:lnTo>
                  <a:pt x="360839" y="357188"/>
                </a:lnTo>
                <a:lnTo>
                  <a:pt x="389969" y="389959"/>
                </a:lnTo>
                <a:cubicBezTo>
                  <a:pt x="394891" y="395496"/>
                  <a:pt x="394891" y="404604"/>
                  <a:pt x="389969" y="410141"/>
                </a:cubicBezTo>
                <a:cubicBezTo>
                  <a:pt x="385048" y="415677"/>
                  <a:pt x="376952" y="415677"/>
                  <a:pt x="372031" y="410141"/>
                </a:cubicBezTo>
                <a:lnTo>
                  <a:pt x="342900" y="377369"/>
                </a:lnTo>
                <a:lnTo>
                  <a:pt x="313769" y="410141"/>
                </a:lnTo>
                <a:cubicBezTo>
                  <a:pt x="308848" y="415677"/>
                  <a:pt x="300752" y="415677"/>
                  <a:pt x="295831" y="410141"/>
                </a:cubicBezTo>
                <a:cubicBezTo>
                  <a:pt x="290909" y="404604"/>
                  <a:pt x="290909" y="395496"/>
                  <a:pt x="295831" y="389959"/>
                </a:cubicBezTo>
                <a:lnTo>
                  <a:pt x="324961" y="357188"/>
                </a:lnTo>
                <a:lnTo>
                  <a:pt x="295831" y="324416"/>
                </a:lnTo>
                <a:cubicBezTo>
                  <a:pt x="290909" y="318879"/>
                  <a:pt x="290909" y="309771"/>
                  <a:pt x="295831" y="304234"/>
                </a:cubicBezTo>
                <a:cubicBezTo>
                  <a:pt x="300752" y="298698"/>
                  <a:pt x="308848" y="298698"/>
                  <a:pt x="313769" y="304234"/>
                </a:cubicBezTo>
                <a:lnTo>
                  <a:pt x="342900" y="337006"/>
                </a:lnTo>
                <a:lnTo>
                  <a:pt x="372031" y="304234"/>
                </a:lnTo>
                <a:cubicBezTo>
                  <a:pt x="376952" y="298698"/>
                  <a:pt x="385048" y="298698"/>
                  <a:pt x="389969" y="304234"/>
                </a:cubicBezTo>
                <a:cubicBezTo>
                  <a:pt x="394891" y="309771"/>
                  <a:pt x="394891" y="318879"/>
                  <a:pt x="389969" y="324416"/>
                </a:cubicBez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36000" y="6540500"/>
            <a:ext cx="65405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记录标准缺失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36000" y="7048500"/>
            <a:ext cx="6540500" cy="635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人工记录易遗漏，缺乏标准化流程，影响后续追溯与管理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2000" y="86360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01 项目概述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508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项目目标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4732000" cy="1270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19000"/>
                </a:srgbClr>
              </a:gs>
              <a:gs pos="100000">
                <a:srgbClr val="10B981">
                  <a:alpha val="2000"/>
                </a:srgbClr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62000" y="1524000"/>
            <a:ext cx="50800" cy="1270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79500" y="1625600"/>
            <a:ext cx="254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2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总体目标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9500" y="2032000"/>
            <a:ext cx="13970000" cy="609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打造</a:t>
            </a:r>
            <a:r>
              <a:rPr lang="en-US" sz="2000" b="1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轻量化移动端低空影像智能核查系统</a:t>
            </a:r>
            <a:r>
              <a:rPr lang="en-US" sz="20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，实现「影像导入 → 智能识别 → 交互核查 → 离线导出」完整闭环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2000" y="31750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功能目标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2000" y="3683000"/>
            <a:ext cx="635000" cy="381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62000" y="406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0800" y="22225"/>
                </a:moveTo>
                <a:cubicBezTo>
                  <a:pt x="22781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22781" y="333375"/>
                  <a:pt x="50800" y="333375"/>
                </a:cubicBezTo>
                <a:lnTo>
                  <a:pt x="304800" y="333375"/>
                </a:lnTo>
                <a:cubicBezTo>
                  <a:pt x="332819" y="333375"/>
                  <a:pt x="355600" y="313442"/>
                  <a:pt x="355600" y="288925"/>
                </a:cubicBezTo>
                <a:lnTo>
                  <a:pt x="355600" y="66675"/>
                </a:lnTo>
                <a:cubicBezTo>
                  <a:pt x="355600" y="42158"/>
                  <a:pt x="332819" y="22225"/>
                  <a:pt x="304800" y="22225"/>
                </a:cubicBezTo>
                <a:lnTo>
                  <a:pt x="50800" y="22225"/>
                </a:lnTo>
                <a:close/>
                <a:moveTo>
                  <a:pt x="101600" y="77788"/>
                </a:moveTo>
                <a:cubicBezTo>
                  <a:pt x="122628" y="77788"/>
                  <a:pt x="139700" y="92726"/>
                  <a:pt x="139700" y="111125"/>
                </a:cubicBezTo>
                <a:cubicBezTo>
                  <a:pt x="139700" y="129524"/>
                  <a:pt x="122628" y="144463"/>
                  <a:pt x="101600" y="144463"/>
                </a:cubicBezTo>
                <a:cubicBezTo>
                  <a:pt x="80572" y="144463"/>
                  <a:pt x="63500" y="129524"/>
                  <a:pt x="63500" y="111125"/>
                </a:cubicBezTo>
                <a:cubicBezTo>
                  <a:pt x="63500" y="92726"/>
                  <a:pt x="80572" y="77788"/>
                  <a:pt x="101600" y="77788"/>
                </a:cubicBezTo>
                <a:close/>
                <a:moveTo>
                  <a:pt x="215900" y="155575"/>
                </a:moveTo>
                <a:cubicBezTo>
                  <a:pt x="222567" y="155575"/>
                  <a:pt x="228679" y="158631"/>
                  <a:pt x="232172" y="163562"/>
                </a:cubicBezTo>
                <a:lnTo>
                  <a:pt x="302022" y="263575"/>
                </a:lnTo>
                <a:cubicBezTo>
                  <a:pt x="305594" y="268714"/>
                  <a:pt x="305753" y="275173"/>
                  <a:pt x="302419" y="280452"/>
                </a:cubicBezTo>
                <a:cubicBezTo>
                  <a:pt x="299085" y="285730"/>
                  <a:pt x="292656" y="288925"/>
                  <a:pt x="285750" y="288925"/>
                </a:cubicBezTo>
                <a:lnTo>
                  <a:pt x="69850" y="288925"/>
                </a:lnTo>
                <a:cubicBezTo>
                  <a:pt x="62786" y="288925"/>
                  <a:pt x="56198" y="285452"/>
                  <a:pt x="52943" y="279966"/>
                </a:cubicBezTo>
                <a:cubicBezTo>
                  <a:pt x="49689" y="274479"/>
                  <a:pt x="50165" y="267811"/>
                  <a:pt x="54213" y="262741"/>
                </a:cubicBezTo>
                <a:lnTo>
                  <a:pt x="98663" y="207179"/>
                </a:lnTo>
                <a:cubicBezTo>
                  <a:pt x="102235" y="202734"/>
                  <a:pt x="108029" y="200094"/>
                  <a:pt x="114300" y="200094"/>
                </a:cubicBezTo>
                <a:cubicBezTo>
                  <a:pt x="120571" y="200094"/>
                  <a:pt x="126365" y="202734"/>
                  <a:pt x="129937" y="207179"/>
                </a:cubicBezTo>
                <a:lnTo>
                  <a:pt x="150892" y="233432"/>
                </a:lnTo>
                <a:lnTo>
                  <a:pt x="199628" y="163632"/>
                </a:lnTo>
                <a:cubicBezTo>
                  <a:pt x="203121" y="158700"/>
                  <a:pt x="209233" y="155644"/>
                  <a:pt x="215900" y="155644"/>
                </a:cubicBez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270000" y="4013200"/>
            <a:ext cx="609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支持相册 / </a:t>
            </a:r>
            <a:r>
              <a:rPr lang="en-US" sz="1800" dirty="0" err="1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无人机</a:t>
            </a:r>
            <a:r>
              <a:rPr lang="zh-CN" altLang="en-US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影像</a:t>
            </a:r>
            <a:r>
              <a:rPr lang="en-US" sz="1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 / 样例图导入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69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0"/>
                </a:moveTo>
                <a:cubicBezTo>
                  <a:pt x="60910" y="0"/>
                  <a:pt x="75287" y="8959"/>
                  <a:pt x="82927" y="22225"/>
                </a:cubicBezTo>
                <a:lnTo>
                  <a:pt x="272604" y="22225"/>
                </a:lnTo>
                <a:cubicBezTo>
                  <a:pt x="280313" y="8959"/>
                  <a:pt x="294620" y="0"/>
                  <a:pt x="311081" y="0"/>
                </a:cubicBezTo>
                <a:cubicBezTo>
                  <a:pt x="335598" y="0"/>
                  <a:pt x="355531" y="19933"/>
                  <a:pt x="355531" y="44450"/>
                </a:cubicBezTo>
                <a:cubicBezTo>
                  <a:pt x="355531" y="68064"/>
                  <a:pt x="337125" y="87372"/>
                  <a:pt x="313859" y="88831"/>
                </a:cubicBezTo>
                <a:lnTo>
                  <a:pt x="312400" y="90845"/>
                </a:lnTo>
                <a:lnTo>
                  <a:pt x="262741" y="159673"/>
                </a:lnTo>
                <a:cubicBezTo>
                  <a:pt x="265241" y="165229"/>
                  <a:pt x="266631" y="171410"/>
                  <a:pt x="266631" y="177869"/>
                </a:cubicBezTo>
                <a:cubicBezTo>
                  <a:pt x="266631" y="184329"/>
                  <a:pt x="265241" y="190510"/>
                  <a:pt x="262741" y="196066"/>
                </a:cubicBezTo>
                <a:lnTo>
                  <a:pt x="264269" y="198219"/>
                </a:lnTo>
                <a:lnTo>
                  <a:pt x="312400" y="264894"/>
                </a:lnTo>
                <a:lnTo>
                  <a:pt x="313859" y="266908"/>
                </a:lnTo>
                <a:cubicBezTo>
                  <a:pt x="337125" y="268367"/>
                  <a:pt x="355531" y="287675"/>
                  <a:pt x="355531" y="311289"/>
                </a:cubicBezTo>
                <a:cubicBezTo>
                  <a:pt x="355531" y="335806"/>
                  <a:pt x="335598" y="355739"/>
                  <a:pt x="311081" y="355739"/>
                </a:cubicBezTo>
                <a:cubicBezTo>
                  <a:pt x="294620" y="355739"/>
                  <a:pt x="280243" y="346779"/>
                  <a:pt x="272604" y="333514"/>
                </a:cubicBezTo>
                <a:lnTo>
                  <a:pt x="82927" y="333514"/>
                </a:lnTo>
                <a:cubicBezTo>
                  <a:pt x="75218" y="346779"/>
                  <a:pt x="60910" y="355739"/>
                  <a:pt x="44450" y="355739"/>
                </a:cubicBezTo>
                <a:cubicBezTo>
                  <a:pt x="19933" y="355739"/>
                  <a:pt x="0" y="335806"/>
                  <a:pt x="0" y="311289"/>
                </a:cubicBezTo>
                <a:cubicBezTo>
                  <a:pt x="0" y="294829"/>
                  <a:pt x="8959" y="280452"/>
                  <a:pt x="22225" y="272812"/>
                </a:cubicBezTo>
                <a:lnTo>
                  <a:pt x="22225" y="83135"/>
                </a:lnTo>
                <a:cubicBezTo>
                  <a:pt x="8959" y="75287"/>
                  <a:pt x="0" y="60910"/>
                  <a:pt x="0" y="44450"/>
                </a:cubicBezTo>
                <a:cubicBezTo>
                  <a:pt x="0" y="19933"/>
                  <a:pt x="19933" y="0"/>
                  <a:pt x="44450" y="0"/>
                </a:cubicBezTo>
                <a:close/>
                <a:moveTo>
                  <a:pt x="273784" y="287119"/>
                </a:moveTo>
                <a:lnTo>
                  <a:pt x="228292" y="224195"/>
                </a:lnTo>
                <a:lnTo>
                  <a:pt x="226764" y="222042"/>
                </a:lnTo>
                <a:cubicBezTo>
                  <a:pt x="225306" y="222181"/>
                  <a:pt x="223778" y="222250"/>
                  <a:pt x="222250" y="222250"/>
                </a:cubicBezTo>
                <a:cubicBezTo>
                  <a:pt x="197733" y="222250"/>
                  <a:pt x="177800" y="202317"/>
                  <a:pt x="177800" y="177800"/>
                </a:cubicBezTo>
                <a:cubicBezTo>
                  <a:pt x="177800" y="153283"/>
                  <a:pt x="197733" y="133350"/>
                  <a:pt x="222250" y="133350"/>
                </a:cubicBezTo>
                <a:cubicBezTo>
                  <a:pt x="223778" y="133350"/>
                  <a:pt x="225306" y="133419"/>
                  <a:pt x="226764" y="133558"/>
                </a:cubicBezTo>
                <a:lnTo>
                  <a:pt x="273784" y="68481"/>
                </a:lnTo>
                <a:cubicBezTo>
                  <a:pt x="273367" y="67856"/>
                  <a:pt x="273020" y="67300"/>
                  <a:pt x="272673" y="66675"/>
                </a:cubicBezTo>
                <a:lnTo>
                  <a:pt x="82927" y="66675"/>
                </a:lnTo>
                <a:cubicBezTo>
                  <a:pt x="79038" y="73412"/>
                  <a:pt x="73412" y="79038"/>
                  <a:pt x="66675" y="82927"/>
                </a:cubicBezTo>
                <a:lnTo>
                  <a:pt x="66675" y="272604"/>
                </a:lnTo>
                <a:cubicBezTo>
                  <a:pt x="73412" y="276493"/>
                  <a:pt x="79038" y="282119"/>
                  <a:pt x="82927" y="288856"/>
                </a:cubicBezTo>
                <a:lnTo>
                  <a:pt x="272604" y="288856"/>
                </a:lnTo>
                <a:cubicBezTo>
                  <a:pt x="272951" y="288230"/>
                  <a:pt x="273368" y="287605"/>
                  <a:pt x="273715" y="287050"/>
                </a:cubicBez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270000" y="4648200"/>
            <a:ext cx="609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 err="1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建筑物</a:t>
            </a:r>
            <a:r>
              <a:rPr lang="en-US" sz="1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 mask </a:t>
            </a:r>
            <a:r>
              <a:rPr lang="en-US" sz="1800" dirty="0" err="1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自动提取</a:t>
            </a:r>
            <a:r>
              <a:rPr lang="zh-CN" altLang="en-US" sz="1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、</a:t>
            </a:r>
            <a:r>
              <a:rPr lang="zh-CN" altLang="en-US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基于</a:t>
            </a:r>
            <a:r>
              <a:rPr lang="en-US" altLang="zh-CN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GPS</a:t>
            </a:r>
            <a:r>
              <a:rPr lang="zh-CN" altLang="en-US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定位轨迹更新灾害范围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533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479" y="3612"/>
                </a:moveTo>
                <a:cubicBezTo>
                  <a:pt x="171827" y="-1181"/>
                  <a:pt x="183773" y="-1181"/>
                  <a:pt x="194121" y="3612"/>
                </a:cubicBezTo>
                <a:lnTo>
                  <a:pt x="345946" y="73759"/>
                </a:lnTo>
                <a:cubicBezTo>
                  <a:pt x="351850" y="76468"/>
                  <a:pt x="355600" y="82371"/>
                  <a:pt x="355600" y="88900"/>
                </a:cubicBezTo>
                <a:cubicBezTo>
                  <a:pt x="355600" y="95429"/>
                  <a:pt x="351850" y="101332"/>
                  <a:pt x="345946" y="104041"/>
                </a:cubicBezTo>
                <a:lnTo>
                  <a:pt x="194121" y="174188"/>
                </a:lnTo>
                <a:cubicBezTo>
                  <a:pt x="183773" y="178981"/>
                  <a:pt x="171827" y="178981"/>
                  <a:pt x="161479" y="174188"/>
                </a:cubicBezTo>
                <a:lnTo>
                  <a:pt x="9654" y="104041"/>
                </a:lnTo>
                <a:cubicBezTo>
                  <a:pt x="3750" y="101263"/>
                  <a:pt x="0" y="95359"/>
                  <a:pt x="0" y="88900"/>
                </a:cubicBezTo>
                <a:cubicBezTo>
                  <a:pt x="0" y="82441"/>
                  <a:pt x="3750" y="76468"/>
                  <a:pt x="9654" y="73759"/>
                </a:cubicBezTo>
                <a:lnTo>
                  <a:pt x="161479" y="3612"/>
                </a:lnTo>
                <a:close/>
                <a:moveTo>
                  <a:pt x="33407" y="151686"/>
                </a:moveTo>
                <a:lnTo>
                  <a:pt x="147518" y="204401"/>
                </a:lnTo>
                <a:cubicBezTo>
                  <a:pt x="166757" y="213291"/>
                  <a:pt x="188913" y="213291"/>
                  <a:pt x="208151" y="204401"/>
                </a:cubicBezTo>
                <a:lnTo>
                  <a:pt x="322263" y="151686"/>
                </a:lnTo>
                <a:lnTo>
                  <a:pt x="345946" y="162659"/>
                </a:lnTo>
                <a:cubicBezTo>
                  <a:pt x="351850" y="165368"/>
                  <a:pt x="355600" y="171271"/>
                  <a:pt x="355600" y="177800"/>
                </a:cubicBezTo>
                <a:cubicBezTo>
                  <a:pt x="355600" y="184329"/>
                  <a:pt x="351850" y="190232"/>
                  <a:pt x="345946" y="192941"/>
                </a:cubicBezTo>
                <a:lnTo>
                  <a:pt x="194121" y="263088"/>
                </a:lnTo>
                <a:cubicBezTo>
                  <a:pt x="183773" y="267881"/>
                  <a:pt x="171827" y="267881"/>
                  <a:pt x="161479" y="263088"/>
                </a:cubicBezTo>
                <a:lnTo>
                  <a:pt x="9654" y="192941"/>
                </a:lnTo>
                <a:cubicBezTo>
                  <a:pt x="3750" y="190163"/>
                  <a:pt x="0" y="184259"/>
                  <a:pt x="0" y="177800"/>
                </a:cubicBezTo>
                <a:cubicBezTo>
                  <a:pt x="0" y="171341"/>
                  <a:pt x="3750" y="165368"/>
                  <a:pt x="9654" y="162659"/>
                </a:cubicBezTo>
                <a:lnTo>
                  <a:pt x="33337" y="151686"/>
                </a:lnTo>
                <a:close/>
                <a:moveTo>
                  <a:pt x="9654" y="251559"/>
                </a:moveTo>
                <a:lnTo>
                  <a:pt x="33337" y="240586"/>
                </a:lnTo>
                <a:lnTo>
                  <a:pt x="147449" y="293301"/>
                </a:lnTo>
                <a:cubicBezTo>
                  <a:pt x="166688" y="302191"/>
                  <a:pt x="188843" y="302191"/>
                  <a:pt x="208082" y="293301"/>
                </a:cubicBezTo>
                <a:lnTo>
                  <a:pt x="322193" y="240586"/>
                </a:lnTo>
                <a:lnTo>
                  <a:pt x="345877" y="251559"/>
                </a:lnTo>
                <a:cubicBezTo>
                  <a:pt x="351780" y="254268"/>
                  <a:pt x="355531" y="260171"/>
                  <a:pt x="355531" y="266700"/>
                </a:cubicBezTo>
                <a:cubicBezTo>
                  <a:pt x="355531" y="273229"/>
                  <a:pt x="351780" y="279132"/>
                  <a:pt x="345877" y="281841"/>
                </a:cubicBezTo>
                <a:lnTo>
                  <a:pt x="194052" y="351988"/>
                </a:lnTo>
                <a:cubicBezTo>
                  <a:pt x="183704" y="356781"/>
                  <a:pt x="171758" y="356781"/>
                  <a:pt x="161409" y="351988"/>
                </a:cubicBezTo>
                <a:lnTo>
                  <a:pt x="9654" y="281841"/>
                </a:lnTo>
                <a:cubicBezTo>
                  <a:pt x="3750" y="279063"/>
                  <a:pt x="0" y="273159"/>
                  <a:pt x="0" y="266700"/>
                </a:cubicBezTo>
                <a:cubicBezTo>
                  <a:pt x="0" y="260241"/>
                  <a:pt x="3750" y="254268"/>
                  <a:pt x="9654" y="251559"/>
                </a:cubicBez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270000" y="5283200"/>
            <a:ext cx="609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图层切换与透明度自由调节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5969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01600" y="27781"/>
                </a:moveTo>
                <a:cubicBezTo>
                  <a:pt x="101600" y="12432"/>
                  <a:pt x="115808" y="0"/>
                  <a:pt x="133350" y="0"/>
                </a:cubicBezTo>
                <a:cubicBezTo>
                  <a:pt x="150892" y="0"/>
                  <a:pt x="165100" y="12432"/>
                  <a:pt x="165100" y="27781"/>
                </a:cubicBezTo>
                <a:lnTo>
                  <a:pt x="165100" y="130711"/>
                </a:lnTo>
                <a:cubicBezTo>
                  <a:pt x="171847" y="125432"/>
                  <a:pt x="180737" y="122238"/>
                  <a:pt x="190500" y="122238"/>
                </a:cubicBezTo>
                <a:cubicBezTo>
                  <a:pt x="206851" y="122238"/>
                  <a:pt x="220821" y="131266"/>
                  <a:pt x="226219" y="143907"/>
                </a:cubicBezTo>
                <a:cubicBezTo>
                  <a:pt x="233204" y="137448"/>
                  <a:pt x="243046" y="133350"/>
                  <a:pt x="254000" y="133350"/>
                </a:cubicBezTo>
                <a:cubicBezTo>
                  <a:pt x="274082" y="133350"/>
                  <a:pt x="290513" y="146893"/>
                  <a:pt x="292021" y="164118"/>
                </a:cubicBezTo>
                <a:cubicBezTo>
                  <a:pt x="298768" y="158770"/>
                  <a:pt x="307737" y="155575"/>
                  <a:pt x="317500" y="155575"/>
                </a:cubicBezTo>
                <a:cubicBezTo>
                  <a:pt x="338534" y="155575"/>
                  <a:pt x="355600" y="170507"/>
                  <a:pt x="355600" y="188913"/>
                </a:cubicBezTo>
                <a:lnTo>
                  <a:pt x="355600" y="266700"/>
                </a:lnTo>
                <a:cubicBezTo>
                  <a:pt x="355600" y="315803"/>
                  <a:pt x="310118" y="355600"/>
                  <a:pt x="254000" y="355600"/>
                </a:cubicBezTo>
                <a:lnTo>
                  <a:pt x="186293" y="355600"/>
                </a:lnTo>
                <a:cubicBezTo>
                  <a:pt x="182324" y="355600"/>
                  <a:pt x="178435" y="355392"/>
                  <a:pt x="174625" y="354905"/>
                </a:cubicBezTo>
                <a:cubicBezTo>
                  <a:pt x="130731" y="351016"/>
                  <a:pt x="90329" y="331291"/>
                  <a:pt x="63500" y="300038"/>
                </a:cubicBezTo>
                <a:lnTo>
                  <a:pt x="6350" y="233363"/>
                </a:lnTo>
                <a:cubicBezTo>
                  <a:pt x="-4207" y="221069"/>
                  <a:pt x="-1349" y="203706"/>
                  <a:pt x="12700" y="194469"/>
                </a:cubicBezTo>
                <a:cubicBezTo>
                  <a:pt x="26749" y="185231"/>
                  <a:pt x="46593" y="187732"/>
                  <a:pt x="57150" y="200025"/>
                </a:cubicBezTo>
                <a:lnTo>
                  <a:pt x="101600" y="251906"/>
                </a:lnTo>
                <a:lnTo>
                  <a:pt x="101600" y="27781"/>
                </a:lnTo>
                <a:close/>
                <a:moveTo>
                  <a:pt x="190500" y="211138"/>
                </a:moveTo>
                <a:cubicBezTo>
                  <a:pt x="190500" y="205026"/>
                  <a:pt x="184785" y="200025"/>
                  <a:pt x="177800" y="200025"/>
                </a:cubicBezTo>
                <a:cubicBezTo>
                  <a:pt x="170815" y="200025"/>
                  <a:pt x="165100" y="205026"/>
                  <a:pt x="165100" y="211138"/>
                </a:cubicBezTo>
                <a:lnTo>
                  <a:pt x="165100" y="277813"/>
                </a:lnTo>
                <a:cubicBezTo>
                  <a:pt x="165100" y="283924"/>
                  <a:pt x="170815" y="288925"/>
                  <a:pt x="177800" y="288925"/>
                </a:cubicBezTo>
                <a:cubicBezTo>
                  <a:pt x="184785" y="288925"/>
                  <a:pt x="190500" y="283924"/>
                  <a:pt x="190500" y="277813"/>
                </a:cubicBezTo>
                <a:lnTo>
                  <a:pt x="190500" y="211138"/>
                </a:lnTo>
                <a:close/>
                <a:moveTo>
                  <a:pt x="228600" y="200025"/>
                </a:moveTo>
                <a:cubicBezTo>
                  <a:pt x="221615" y="200025"/>
                  <a:pt x="215900" y="205026"/>
                  <a:pt x="215900" y="211138"/>
                </a:cubicBezTo>
                <a:lnTo>
                  <a:pt x="215900" y="277813"/>
                </a:lnTo>
                <a:cubicBezTo>
                  <a:pt x="215900" y="283924"/>
                  <a:pt x="221615" y="288925"/>
                  <a:pt x="228600" y="288925"/>
                </a:cubicBezTo>
                <a:cubicBezTo>
                  <a:pt x="235585" y="288925"/>
                  <a:pt x="241300" y="283924"/>
                  <a:pt x="241300" y="277813"/>
                </a:cubicBezTo>
                <a:lnTo>
                  <a:pt x="241300" y="211138"/>
                </a:lnTo>
                <a:cubicBezTo>
                  <a:pt x="241300" y="205026"/>
                  <a:pt x="235585" y="200025"/>
                  <a:pt x="228600" y="200025"/>
                </a:cubicBezTo>
                <a:close/>
                <a:moveTo>
                  <a:pt x="292100" y="211138"/>
                </a:moveTo>
                <a:cubicBezTo>
                  <a:pt x="292100" y="205026"/>
                  <a:pt x="286385" y="200025"/>
                  <a:pt x="279400" y="200025"/>
                </a:cubicBezTo>
                <a:cubicBezTo>
                  <a:pt x="272415" y="200025"/>
                  <a:pt x="266700" y="205026"/>
                  <a:pt x="266700" y="211138"/>
                </a:cubicBezTo>
                <a:lnTo>
                  <a:pt x="266700" y="277813"/>
                </a:lnTo>
                <a:cubicBezTo>
                  <a:pt x="266700" y="283924"/>
                  <a:pt x="272415" y="288925"/>
                  <a:pt x="279400" y="288925"/>
                </a:cubicBezTo>
                <a:cubicBezTo>
                  <a:pt x="286385" y="288925"/>
                  <a:pt x="292100" y="283924"/>
                  <a:pt x="292100" y="277813"/>
                </a:cubicBezTo>
                <a:lnTo>
                  <a:pt x="292100" y="211138"/>
                </a:ln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270000" y="5918200"/>
            <a:ext cx="609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点选 / 框选标注，交互式核查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660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59575" y="0"/>
                </a:moveTo>
                <a:cubicBezTo>
                  <a:pt x="37783" y="0"/>
                  <a:pt x="20064" y="19933"/>
                  <a:pt x="20064" y="44450"/>
                </a:cubicBezTo>
                <a:lnTo>
                  <a:pt x="20064" y="311150"/>
                </a:lnTo>
                <a:cubicBezTo>
                  <a:pt x="20064" y="335667"/>
                  <a:pt x="37783" y="355600"/>
                  <a:pt x="59575" y="355600"/>
                </a:cubicBezTo>
                <a:lnTo>
                  <a:pt x="217620" y="355600"/>
                </a:lnTo>
                <a:cubicBezTo>
                  <a:pt x="239413" y="355600"/>
                  <a:pt x="257131" y="335667"/>
                  <a:pt x="257131" y="311150"/>
                </a:cubicBezTo>
                <a:lnTo>
                  <a:pt x="257131" y="244475"/>
                </a:lnTo>
                <a:lnTo>
                  <a:pt x="305347" y="244475"/>
                </a:lnTo>
                <a:lnTo>
                  <a:pt x="286209" y="266005"/>
                </a:lnTo>
                <a:cubicBezTo>
                  <a:pt x="280405" y="272534"/>
                  <a:pt x="280405" y="283091"/>
                  <a:pt x="286209" y="289550"/>
                </a:cubicBezTo>
                <a:cubicBezTo>
                  <a:pt x="292012" y="296009"/>
                  <a:pt x="301396" y="296079"/>
                  <a:pt x="307137" y="289550"/>
                </a:cubicBezTo>
                <a:lnTo>
                  <a:pt x="351587" y="239544"/>
                </a:lnTo>
                <a:cubicBezTo>
                  <a:pt x="357390" y="233015"/>
                  <a:pt x="357390" y="222458"/>
                  <a:pt x="351587" y="215999"/>
                </a:cubicBezTo>
                <a:lnTo>
                  <a:pt x="307137" y="165993"/>
                </a:lnTo>
                <a:cubicBezTo>
                  <a:pt x="301334" y="159464"/>
                  <a:pt x="291950" y="159464"/>
                  <a:pt x="286209" y="165993"/>
                </a:cubicBezTo>
                <a:cubicBezTo>
                  <a:pt x="280467" y="172522"/>
                  <a:pt x="280405" y="183078"/>
                  <a:pt x="286209" y="189538"/>
                </a:cubicBezTo>
                <a:lnTo>
                  <a:pt x="305347" y="211068"/>
                </a:lnTo>
                <a:lnTo>
                  <a:pt x="257131" y="211068"/>
                </a:lnTo>
                <a:lnTo>
                  <a:pt x="257131" y="118348"/>
                </a:lnTo>
                <a:cubicBezTo>
                  <a:pt x="257131" y="106541"/>
                  <a:pt x="252995" y="95220"/>
                  <a:pt x="245586" y="86886"/>
                </a:cubicBezTo>
                <a:lnTo>
                  <a:pt x="179776" y="12988"/>
                </a:lnTo>
                <a:cubicBezTo>
                  <a:pt x="172367" y="4653"/>
                  <a:pt x="162366" y="0"/>
                  <a:pt x="151871" y="0"/>
                </a:cubicBezTo>
                <a:lnTo>
                  <a:pt x="59575" y="0"/>
                </a:lnTo>
                <a:close/>
                <a:moveTo>
                  <a:pt x="221015" y="122238"/>
                </a:moveTo>
                <a:lnTo>
                  <a:pt x="163292" y="122238"/>
                </a:lnTo>
                <a:cubicBezTo>
                  <a:pt x="155081" y="122238"/>
                  <a:pt x="148475" y="114806"/>
                  <a:pt x="148475" y="105569"/>
                </a:cubicBezTo>
                <a:lnTo>
                  <a:pt x="148475" y="40630"/>
                </a:lnTo>
                <a:lnTo>
                  <a:pt x="221015" y="122238"/>
                </a:lnTo>
                <a:close/>
                <a:moveTo>
                  <a:pt x="138598" y="227806"/>
                </a:moveTo>
                <a:cubicBezTo>
                  <a:pt x="138598" y="218569"/>
                  <a:pt x="145203" y="211138"/>
                  <a:pt x="153414" y="211138"/>
                </a:cubicBezTo>
                <a:lnTo>
                  <a:pt x="217620" y="211138"/>
                </a:lnTo>
                <a:lnTo>
                  <a:pt x="217620" y="244475"/>
                </a:lnTo>
                <a:lnTo>
                  <a:pt x="153414" y="244475"/>
                </a:lnTo>
                <a:cubicBezTo>
                  <a:pt x="145203" y="244475"/>
                  <a:pt x="138598" y="237044"/>
                  <a:pt x="138598" y="227806"/>
                </a:cubicBez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270000" y="6553200"/>
            <a:ext cx="609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60000"/>
              </a:lnSpc>
            </a:pPr>
            <a:r>
              <a:rPr lang="en-US" sz="1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弱网环境下离线报告导出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82000" y="3175000"/>
            <a:ext cx="381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业务目标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382000" y="3683000"/>
            <a:ext cx="635000" cy="381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382000" y="4064000"/>
            <a:ext cx="7112000" cy="1016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636000" y="4191000"/>
            <a:ext cx="762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01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525000" y="4191000"/>
            <a:ext cx="5715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降低 GIS </a:t>
            </a:r>
            <a:r>
              <a:rPr lang="en-US" sz="1600" dirty="0" err="1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使用门槛</a:t>
            </a:r>
            <a:r>
              <a:rPr 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，</a:t>
            </a:r>
            <a:r>
              <a:rPr lang="zh-CN" alt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为一线工作人员</a:t>
            </a:r>
            <a:r>
              <a:rPr lang="en-US" sz="1600" dirty="0" err="1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影像核查</a:t>
            </a:r>
            <a:r>
              <a:rPr lang="zh-CN" alt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提供便利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5270500"/>
            <a:ext cx="7112000" cy="1016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636000" y="5397500"/>
            <a:ext cx="889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02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525000" y="5397500"/>
            <a:ext cx="5715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 err="1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提升基层巡检效率，减少人工排查成本</a:t>
            </a:r>
            <a:r>
              <a:rPr lang="zh-CN" alt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，为巡检人员在弱网、数据敏感的条件下实现核查与报告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382000" y="6477000"/>
            <a:ext cx="7112000" cy="1016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636000" y="6604000"/>
            <a:ext cx="889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36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03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9525000" y="6604000"/>
            <a:ext cx="5715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实现现场核查数据标准化、可追溯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62000" y="86360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01 项目概述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yv5azbvcqfjc/mnt/agents/output/skyedge/images/8_City_Night_Drone_Images_Browse_218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C0F0E">
                  <a:alpha val="94000"/>
                </a:srgbClr>
              </a:gs>
              <a:gs pos="55000">
                <a:srgbClr val="0C0F0E">
                  <a:alpha val="82000"/>
                </a:srgbClr>
              </a:gs>
              <a:gs pos="100000">
                <a:srgbClr val="0C0F0E">
                  <a:alpha val="50000"/>
                </a:srgbClr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016000" y="2286000"/>
            <a:ext cx="5080000" cy="127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02</a:t>
            </a:r>
            <a:endParaRPr lang="en-US" sz="9600" dirty="0"/>
          </a:p>
        </p:txBody>
      </p:sp>
      <p:sp>
        <p:nvSpPr>
          <p:cNvPr id="5" name="Shape 2"/>
          <p:cNvSpPr/>
          <p:nvPr/>
        </p:nvSpPr>
        <p:spPr>
          <a:xfrm>
            <a:off x="1016000" y="3810000"/>
            <a:ext cx="762000" cy="508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016000" y="4064000"/>
            <a:ext cx="762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kern="0" spc="1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系统架构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016000" y="4953000"/>
            <a:ext cx="762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kern="0" spc="1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总体架构 · 业务流程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635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系统总体架构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4732000" cy="1524000"/>
          </a:xfrm>
          <a:prstGeom prst="rect">
            <a:avLst/>
          </a:prstGeom>
          <a:solidFill>
            <a:srgbClr val="10B981">
              <a:alpha val="8235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52500" y="1625600"/>
            <a:ext cx="2032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用户交互层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52500" y="2032000"/>
            <a:ext cx="4445000" cy="762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52500" y="2032000"/>
            <a:ext cx="4445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◆</a:t>
            </a:r>
            <a:r>
              <a:rPr 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 地图展示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AMap SDK · 图层叠加 · 经纬度定位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51500" y="2032000"/>
            <a:ext cx="4445000" cy="762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651500" y="2032000"/>
            <a:ext cx="4445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◆</a:t>
            </a:r>
            <a:r>
              <a:rPr 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 图层管理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Mask切换 · 透明度调节 · 放大查看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350500" y="2032000"/>
            <a:ext cx="4953000" cy="762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350500" y="2032000"/>
            <a:ext cx="4953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◆</a:t>
            </a:r>
            <a:r>
              <a:rPr 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 记录卡片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点选框选 · 确认排除 · 拍照存档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01000" y="3048000"/>
            <a:ext cx="254000" cy="254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62000" y="3429000"/>
            <a:ext cx="14732000" cy="1524000"/>
          </a:xfrm>
          <a:prstGeom prst="rect">
            <a:avLst/>
          </a:prstGeom>
          <a:solidFill>
            <a:srgbClr val="10B981">
              <a:alpha val="6275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52500" y="3530600"/>
            <a:ext cx="2032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业务逻辑层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52500" y="3937000"/>
            <a:ext cx="4445000" cy="762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952500" y="3937000"/>
            <a:ext cx="4445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◆</a:t>
            </a:r>
            <a:r>
              <a:rPr 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 影像预处理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格式解析 · 归一化 · 尺寸调整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651500" y="3937000"/>
            <a:ext cx="4445000" cy="762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651500" y="3937000"/>
            <a:ext cx="4445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◆</a:t>
            </a:r>
            <a:r>
              <a:rPr 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 交互式分割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点选 · 框选 · Mask修正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350500" y="3937000"/>
            <a:ext cx="4953000" cy="762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350500" y="3937000"/>
            <a:ext cx="4953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◆</a:t>
            </a:r>
            <a:r>
              <a:rPr 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 坐标关联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地图坐标 · 影像配准 · 定位叠加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01000" y="4953000"/>
            <a:ext cx="254000" cy="254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62000" y="5334000"/>
            <a:ext cx="14732000" cy="1524000"/>
          </a:xfrm>
          <a:prstGeom prst="rect">
            <a:avLst/>
          </a:prstGeom>
          <a:solidFill>
            <a:srgbClr val="10B981">
              <a:alpha val="6275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52500" y="5435600"/>
            <a:ext cx="2032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推理引擎层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56000" y="5845810"/>
            <a:ext cx="4445000" cy="762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3556000" y="5842000"/>
            <a:ext cx="4445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◆</a:t>
            </a:r>
            <a:r>
              <a:rPr 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 建筑物提取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U-Net + EfficientNetB0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55000" y="5829300"/>
            <a:ext cx="4953000" cy="762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8255000" y="5850890"/>
            <a:ext cx="4953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◆</a:t>
            </a:r>
            <a:r>
              <a:rPr 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 灾情识别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语义分割 · 范围检测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001000" y="6858000"/>
            <a:ext cx="254000" cy="254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62000" y="7239000"/>
            <a:ext cx="14732000" cy="1143000"/>
          </a:xfrm>
          <a:prstGeom prst="rect">
            <a:avLst/>
          </a:prstGeom>
          <a:solidFill>
            <a:srgbClr val="10B981">
              <a:alpha val="8235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52500" y="7340600"/>
            <a:ext cx="2032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kern="0" spc="1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数据存储层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52500" y="7721600"/>
            <a:ext cx="4445000" cy="5334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952500" y="7721600"/>
            <a:ext cx="44450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◆</a:t>
            </a:r>
            <a:r>
              <a:rPr lang="en-US" sz="15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 离线缓存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651500" y="7721600"/>
            <a:ext cx="4445000" cy="5334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651500" y="7721600"/>
            <a:ext cx="44450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◆</a:t>
            </a:r>
            <a:r>
              <a:rPr lang="en-US" sz="15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 报告生成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0350500" y="7721600"/>
            <a:ext cx="4953000" cy="5334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10350500" y="7721600"/>
            <a:ext cx="495300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◆</a:t>
            </a:r>
            <a:r>
              <a:rPr lang="en-US" sz="15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 历史记录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62000" y="86360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02 系统架构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635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端到端业务流程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4732000" cy="4979035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79500" y="1651000"/>
            <a:ext cx="508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kern="0" spc="2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完整八步闭环</a:t>
            </a:r>
            <a:endParaRPr lang="en-US" sz="16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952500" y="2222500"/>
            <a:ext cx="1524000" cy="1950720"/>
          </a:xfrm>
          <a:prstGeom prst="rect">
            <a:avLst/>
          </a:prstGeom>
          <a:solidFill>
            <a:srgbClr val="10B981">
              <a:alpha val="1451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952500" y="22225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01</a:t>
            </a:r>
            <a:endParaRPr lang="en-US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952500" y="2992755"/>
            <a:ext cx="1524000" cy="419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影像导入</a:t>
            </a:r>
            <a:endParaRPr lang="en-US" sz="140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2476500" y="2565400"/>
            <a:ext cx="3175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>
            <p:custDataLst>
              <p:tags r:id="rId5"/>
            </p:custDataLst>
          </p:nvPr>
        </p:nvSpPr>
        <p:spPr>
          <a:xfrm>
            <a:off x="2794000" y="2222500"/>
            <a:ext cx="1524000" cy="1911985"/>
          </a:xfrm>
          <a:prstGeom prst="rect">
            <a:avLst/>
          </a:prstGeom>
          <a:solidFill>
            <a:srgbClr val="10B981">
              <a:alpha val="1451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2794000" y="22225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  <a:buClrTx/>
              <a:buSzTx/>
              <a:buFontTx/>
            </a:pPr>
            <a:r>
              <a:rPr lang="en-US" sz="18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02</a:t>
            </a:r>
          </a:p>
        </p:txBody>
      </p:sp>
      <p:sp>
        <p:nvSpPr>
          <p:cNvPr id="12" name="Text 10"/>
          <p:cNvSpPr/>
          <p:nvPr>
            <p:custDataLst>
              <p:tags r:id="rId7"/>
            </p:custDataLst>
          </p:nvPr>
        </p:nvSpPr>
        <p:spPr>
          <a:xfrm>
            <a:off x="2857500" y="2992755"/>
            <a:ext cx="1524000" cy="419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智能识别</a:t>
            </a:r>
            <a:endParaRPr lang="en-US" sz="1400" dirty="0"/>
          </a:p>
        </p:txBody>
      </p:sp>
      <p:sp>
        <p:nvSpPr>
          <p:cNvPr id="13" name="Shape 11"/>
          <p:cNvSpPr/>
          <p:nvPr>
            <p:custDataLst>
              <p:tags r:id="rId8"/>
            </p:custDataLst>
          </p:nvPr>
        </p:nvSpPr>
        <p:spPr>
          <a:xfrm>
            <a:off x="4318000" y="2565400"/>
            <a:ext cx="3175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>
            <p:custDataLst>
              <p:tags r:id="rId9"/>
            </p:custDataLst>
          </p:nvPr>
        </p:nvSpPr>
        <p:spPr>
          <a:xfrm>
            <a:off x="4635500" y="2222500"/>
            <a:ext cx="1524000" cy="1912620"/>
          </a:xfrm>
          <a:prstGeom prst="rect">
            <a:avLst/>
          </a:prstGeom>
          <a:solidFill>
            <a:srgbClr val="10B981">
              <a:alpha val="1451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>
            <p:custDataLst>
              <p:tags r:id="rId10"/>
            </p:custDataLst>
          </p:nvPr>
        </p:nvSpPr>
        <p:spPr>
          <a:xfrm>
            <a:off x="4635500" y="22225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4727575" y="2992755"/>
            <a:ext cx="1524000" cy="419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图层叠加</a:t>
            </a:r>
            <a:endParaRPr lang="en-US" sz="1400" dirty="0"/>
          </a:p>
        </p:txBody>
      </p:sp>
      <p:sp>
        <p:nvSpPr>
          <p:cNvPr id="17" name="Shape 15"/>
          <p:cNvSpPr/>
          <p:nvPr>
            <p:custDataLst>
              <p:tags r:id="rId12"/>
            </p:custDataLst>
          </p:nvPr>
        </p:nvSpPr>
        <p:spPr>
          <a:xfrm>
            <a:off x="6159500" y="2565400"/>
            <a:ext cx="3175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6477000" y="2222500"/>
            <a:ext cx="1524000" cy="1911985"/>
          </a:xfrm>
          <a:prstGeom prst="rect">
            <a:avLst/>
          </a:prstGeom>
          <a:solidFill>
            <a:srgbClr val="10B981">
              <a:alpha val="1451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6477000" y="22225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6477000" y="2992755"/>
            <a:ext cx="1524000" cy="419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交互核查</a:t>
            </a:r>
            <a:endParaRPr lang="en-US" sz="1400" dirty="0"/>
          </a:p>
        </p:txBody>
      </p:sp>
      <p:sp>
        <p:nvSpPr>
          <p:cNvPr id="21" name="Shape 19"/>
          <p:cNvSpPr/>
          <p:nvPr>
            <p:custDataLst>
              <p:tags r:id="rId16"/>
            </p:custDataLst>
          </p:nvPr>
        </p:nvSpPr>
        <p:spPr>
          <a:xfrm>
            <a:off x="8001000" y="2565400"/>
            <a:ext cx="3175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>
            <p:custDataLst>
              <p:tags r:id="rId17"/>
            </p:custDataLst>
          </p:nvPr>
        </p:nvSpPr>
        <p:spPr>
          <a:xfrm>
            <a:off x="8318500" y="2222500"/>
            <a:ext cx="1524000" cy="1916430"/>
          </a:xfrm>
          <a:prstGeom prst="rect">
            <a:avLst/>
          </a:prstGeom>
          <a:solidFill>
            <a:srgbClr val="10B981">
              <a:alpha val="1451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>
            <p:custDataLst>
              <p:tags r:id="rId18"/>
            </p:custDataLst>
          </p:nvPr>
        </p:nvSpPr>
        <p:spPr>
          <a:xfrm>
            <a:off x="8318500" y="22225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>
            <p:custDataLst>
              <p:tags r:id="rId19"/>
            </p:custDataLst>
          </p:nvPr>
        </p:nvSpPr>
        <p:spPr>
          <a:xfrm>
            <a:off x="8373745" y="2992755"/>
            <a:ext cx="1524000" cy="419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记录确认</a:t>
            </a:r>
            <a:endParaRPr lang="en-US" sz="1400" dirty="0"/>
          </a:p>
        </p:txBody>
      </p:sp>
      <p:sp>
        <p:nvSpPr>
          <p:cNvPr id="25" name="Shape 23"/>
          <p:cNvSpPr/>
          <p:nvPr>
            <p:custDataLst>
              <p:tags r:id="rId20"/>
            </p:custDataLst>
          </p:nvPr>
        </p:nvSpPr>
        <p:spPr>
          <a:xfrm>
            <a:off x="9842500" y="2565400"/>
            <a:ext cx="3175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>
            <p:custDataLst>
              <p:tags r:id="rId21"/>
            </p:custDataLst>
          </p:nvPr>
        </p:nvSpPr>
        <p:spPr>
          <a:xfrm>
            <a:off x="10160000" y="2222500"/>
            <a:ext cx="1524000" cy="1912620"/>
          </a:xfrm>
          <a:prstGeom prst="rect">
            <a:avLst/>
          </a:prstGeom>
          <a:solidFill>
            <a:srgbClr val="10B981">
              <a:alpha val="1451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>
            <p:custDataLst>
              <p:tags r:id="rId22"/>
            </p:custDataLst>
          </p:nvPr>
        </p:nvSpPr>
        <p:spPr>
          <a:xfrm>
            <a:off x="10160000" y="22225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06</a:t>
            </a:r>
            <a:endParaRPr lang="en-US" sz="1200" dirty="0"/>
          </a:p>
        </p:txBody>
      </p:sp>
      <p:sp>
        <p:nvSpPr>
          <p:cNvPr id="28" name="Text 26"/>
          <p:cNvSpPr/>
          <p:nvPr>
            <p:custDataLst>
              <p:tags r:id="rId23"/>
            </p:custDataLst>
          </p:nvPr>
        </p:nvSpPr>
        <p:spPr>
          <a:xfrm>
            <a:off x="10160000" y="2992755"/>
            <a:ext cx="1524000" cy="419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拍照存档</a:t>
            </a:r>
            <a:endParaRPr lang="en-US" sz="1400" dirty="0"/>
          </a:p>
        </p:txBody>
      </p:sp>
      <p:sp>
        <p:nvSpPr>
          <p:cNvPr id="29" name="Shape 27"/>
          <p:cNvSpPr/>
          <p:nvPr>
            <p:custDataLst>
              <p:tags r:id="rId24"/>
            </p:custDataLst>
          </p:nvPr>
        </p:nvSpPr>
        <p:spPr>
          <a:xfrm>
            <a:off x="11684000" y="2565400"/>
            <a:ext cx="3175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>
            <p:custDataLst>
              <p:tags r:id="rId25"/>
            </p:custDataLst>
          </p:nvPr>
        </p:nvSpPr>
        <p:spPr>
          <a:xfrm>
            <a:off x="12001500" y="2222500"/>
            <a:ext cx="1524000" cy="1959610"/>
          </a:xfrm>
          <a:prstGeom prst="rect">
            <a:avLst/>
          </a:prstGeom>
          <a:solidFill>
            <a:srgbClr val="10B981">
              <a:alpha val="1451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>
            <p:custDataLst>
              <p:tags r:id="rId26"/>
            </p:custDataLst>
          </p:nvPr>
        </p:nvSpPr>
        <p:spPr>
          <a:xfrm>
            <a:off x="12001500" y="22225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07</a:t>
            </a:r>
            <a:endParaRPr lang="en-US" sz="1200" dirty="0"/>
          </a:p>
        </p:txBody>
      </p:sp>
      <p:sp>
        <p:nvSpPr>
          <p:cNvPr id="32" name="Text 30"/>
          <p:cNvSpPr/>
          <p:nvPr>
            <p:custDataLst>
              <p:tags r:id="rId27"/>
            </p:custDataLst>
          </p:nvPr>
        </p:nvSpPr>
        <p:spPr>
          <a:xfrm>
            <a:off x="12001500" y="2992755"/>
            <a:ext cx="1524000" cy="419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报告生成</a:t>
            </a:r>
            <a:endParaRPr lang="en-US" sz="1400" dirty="0"/>
          </a:p>
        </p:txBody>
      </p:sp>
      <p:sp>
        <p:nvSpPr>
          <p:cNvPr id="33" name="Shape 31"/>
          <p:cNvSpPr/>
          <p:nvPr>
            <p:custDataLst>
              <p:tags r:id="rId28"/>
            </p:custDataLst>
          </p:nvPr>
        </p:nvSpPr>
        <p:spPr>
          <a:xfrm>
            <a:off x="13525500" y="2565400"/>
            <a:ext cx="317500" cy="0"/>
          </a:xfrm>
          <a:prstGeom prst="straightConnector1">
            <a:avLst/>
          </a:prstGeom>
          <a:noFill/>
          <a:ln w="25400">
            <a:solidFill>
              <a:srgbClr val="10B981"/>
            </a:solidFill>
            <a:prstDash val="solid"/>
            <a:headEnd type="none"/>
            <a:tailEnd type="arrow"/>
          </a:ln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>
            <p:custDataLst>
              <p:tags r:id="rId29"/>
            </p:custDataLst>
          </p:nvPr>
        </p:nvSpPr>
        <p:spPr>
          <a:xfrm>
            <a:off x="13843000" y="2222500"/>
            <a:ext cx="1524000" cy="19431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>
            <p:custDataLst>
              <p:tags r:id="rId30"/>
            </p:custDataLst>
          </p:nvPr>
        </p:nvSpPr>
        <p:spPr>
          <a:xfrm>
            <a:off x="13843000" y="2222500"/>
            <a:ext cx="1524000" cy="279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dirty="0">
                <a:solidFill>
                  <a:schemeClr val="tx1"/>
                </a:solidFill>
                <a:uFillTx/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08</a:t>
            </a:r>
          </a:p>
        </p:txBody>
      </p:sp>
      <p:sp>
        <p:nvSpPr>
          <p:cNvPr id="36" name="Text 34"/>
          <p:cNvSpPr/>
          <p:nvPr>
            <p:custDataLst>
              <p:tags r:id="rId31"/>
            </p:custDataLst>
          </p:nvPr>
        </p:nvSpPr>
        <p:spPr>
          <a:xfrm>
            <a:off x="13843000" y="2992755"/>
            <a:ext cx="1524000" cy="4191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离线导出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52500" y="5494655"/>
            <a:ext cx="14097000" cy="635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dirty="0" err="1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支持相册图片、无人机</a:t>
            </a:r>
            <a:r>
              <a:rPr lang="zh-CN" altLang="en-US" sz="14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影像</a:t>
            </a:r>
            <a:r>
              <a:rPr lang="en-US" sz="14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、公开样例图导入 → 建筑物/道路/灾情范围自动识别 → Mask叠加到地图 → 点选框选标注 → 确认排除 → 拍照取证 → 结构化报告 → 图片/CSV/JSON导出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62000" y="4572000"/>
            <a:ext cx="508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270000" y="5842000"/>
            <a:ext cx="22860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85800" y="7102474"/>
            <a:ext cx="14732000" cy="1143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8000"/>
                </a:srgbClr>
              </a:gs>
              <a:gs pos="100000">
                <a:srgbClr val="10B981">
                  <a:alpha val="2000"/>
                </a:srgbClr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1079500" y="7302500"/>
            <a:ext cx="14097000" cy="889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✓</a:t>
            </a:r>
            <a:r>
              <a:rPr lang="en-US" sz="1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 </a:t>
            </a:r>
            <a:r>
              <a:rPr lang="en-US" sz="1800" dirty="0" err="1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每一步均可操作、可回溯、可导出</a:t>
            </a:r>
            <a:r>
              <a:rPr lang="en-US" sz="1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　　　　                 </a:t>
            </a:r>
            <a:r>
              <a:rPr lang="en-US" sz="18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✓</a:t>
            </a:r>
            <a:r>
              <a:rPr lang="en-US" sz="1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 </a:t>
            </a:r>
            <a:r>
              <a:rPr lang="en-US" sz="1800" dirty="0" err="1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弱网环境完整运行</a:t>
            </a:r>
            <a:r>
              <a:rPr lang="en-US" sz="1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                         </a:t>
            </a:r>
            <a:r>
              <a:rPr lang="en-US" altLang="zh-CN" dirty="0">
                <a:solidFill>
                  <a:srgbClr val="10B981"/>
                </a:solidFill>
                <a:latin typeface="等线" panose="02010600030101010101" pitchFamily="2" charset="-122"/>
                <a:cs typeface="Liter" panose="02000503030000020004" pitchFamily="34" charset="-120"/>
              </a:rPr>
              <a:t>✓</a:t>
            </a:r>
            <a:r>
              <a:rPr lang="zh-CN" altLang="en-US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本地存储，数据更安全</a:t>
            </a:r>
            <a:endParaRPr lang="en-US" dirty="0">
              <a:solidFill>
                <a:srgbClr val="F9FAFB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62000" y="86360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02 系统架构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yv5azbvcqfjc/mnt/agents/output/skyedge/images/1_Can_Satellites_See_in_the_Dark_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C0F0E">
                  <a:alpha val="94000"/>
                </a:srgbClr>
              </a:gs>
              <a:gs pos="55000">
                <a:srgbClr val="0C0F0E">
                  <a:alpha val="82000"/>
                </a:srgbClr>
              </a:gs>
              <a:gs pos="100000">
                <a:srgbClr val="0C0F0E">
                  <a:alpha val="50000"/>
                </a:srgbClr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016000" y="2286000"/>
            <a:ext cx="5080000" cy="127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03</a:t>
            </a:r>
            <a:endParaRPr lang="en-US" sz="9600" dirty="0"/>
          </a:p>
        </p:txBody>
      </p:sp>
      <p:sp>
        <p:nvSpPr>
          <p:cNvPr id="5" name="Shape 2"/>
          <p:cNvSpPr/>
          <p:nvPr/>
        </p:nvSpPr>
        <p:spPr>
          <a:xfrm>
            <a:off x="1016000" y="3810000"/>
            <a:ext cx="762000" cy="508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016000" y="4064000"/>
            <a:ext cx="762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kern="0" spc="1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技术实现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016000" y="4953000"/>
            <a:ext cx="762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kern="0" spc="1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技术方法 · 创新亮点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508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技术方法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5240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kern="0" spc="2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核心技术栈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2032000"/>
            <a:ext cx="3429000" cy="1524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16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6933" y="50800"/>
                </a:moveTo>
                <a:cubicBezTo>
                  <a:pt x="16933" y="22781"/>
                  <a:pt x="47308" y="0"/>
                  <a:pt x="84667" y="0"/>
                </a:cubicBezTo>
                <a:lnTo>
                  <a:pt x="321733" y="0"/>
                </a:lnTo>
                <a:cubicBezTo>
                  <a:pt x="359093" y="0"/>
                  <a:pt x="389467" y="22781"/>
                  <a:pt x="389467" y="50800"/>
                </a:cubicBezTo>
                <a:lnTo>
                  <a:pt x="389467" y="355600"/>
                </a:lnTo>
                <a:cubicBezTo>
                  <a:pt x="389467" y="383619"/>
                  <a:pt x="359093" y="406400"/>
                  <a:pt x="321733" y="406400"/>
                </a:cubicBezTo>
                <a:lnTo>
                  <a:pt x="84667" y="406400"/>
                </a:lnTo>
                <a:cubicBezTo>
                  <a:pt x="47308" y="406400"/>
                  <a:pt x="16933" y="383619"/>
                  <a:pt x="16933" y="355600"/>
                </a:cubicBezTo>
                <a:lnTo>
                  <a:pt x="16933" y="50800"/>
                </a:lnTo>
                <a:close/>
                <a:moveTo>
                  <a:pt x="135467" y="349250"/>
                </a:moveTo>
                <a:cubicBezTo>
                  <a:pt x="135467" y="359807"/>
                  <a:pt x="146791" y="368300"/>
                  <a:pt x="160867" y="368300"/>
                </a:cubicBezTo>
                <a:lnTo>
                  <a:pt x="245533" y="368300"/>
                </a:lnTo>
                <a:cubicBezTo>
                  <a:pt x="259609" y="368300"/>
                  <a:pt x="270933" y="359807"/>
                  <a:pt x="270933" y="349250"/>
                </a:cubicBezTo>
                <a:cubicBezTo>
                  <a:pt x="270933" y="338693"/>
                  <a:pt x="259609" y="330200"/>
                  <a:pt x="245533" y="330200"/>
                </a:cubicBezTo>
                <a:lnTo>
                  <a:pt x="160867" y="330200"/>
                </a:lnTo>
                <a:cubicBezTo>
                  <a:pt x="146791" y="330200"/>
                  <a:pt x="135467" y="338693"/>
                  <a:pt x="135467" y="349250"/>
                </a:cubicBezTo>
                <a:close/>
                <a:moveTo>
                  <a:pt x="321733" y="50800"/>
                </a:moveTo>
                <a:lnTo>
                  <a:pt x="84667" y="50800"/>
                </a:lnTo>
                <a:lnTo>
                  <a:pt x="84667" y="292100"/>
                </a:lnTo>
                <a:lnTo>
                  <a:pt x="321733" y="292100"/>
                </a:lnTo>
                <a:lnTo>
                  <a:pt x="321733" y="50800"/>
                </a:ln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549400" y="2222500"/>
            <a:ext cx="2413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移动端框架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768600"/>
            <a:ext cx="2921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Android Jetpack + Compose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现代化UI开发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45000" y="2032000"/>
            <a:ext cx="3429000" cy="1524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699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365760" y="38100"/>
                </a:moveTo>
                <a:cubicBezTo>
                  <a:pt x="365760" y="29289"/>
                  <a:pt x="362140" y="21114"/>
                  <a:pt x="356108" y="16510"/>
                </a:cubicBezTo>
                <a:cubicBezTo>
                  <a:pt x="350076" y="11906"/>
                  <a:pt x="342646" y="11430"/>
                  <a:pt x="336360" y="15399"/>
                </a:cubicBezTo>
                <a:lnTo>
                  <a:pt x="262573" y="61516"/>
                </a:lnTo>
                <a:lnTo>
                  <a:pt x="148654" y="13970"/>
                </a:lnTo>
                <a:cubicBezTo>
                  <a:pt x="143510" y="11827"/>
                  <a:pt x="137986" y="12303"/>
                  <a:pt x="133159" y="15319"/>
                </a:cubicBezTo>
                <a:lnTo>
                  <a:pt x="51879" y="66119"/>
                </a:lnTo>
                <a:cubicBezTo>
                  <a:pt x="44958" y="70485"/>
                  <a:pt x="40640" y="79296"/>
                  <a:pt x="40640" y="88900"/>
                </a:cubicBezTo>
                <a:lnTo>
                  <a:pt x="40640" y="368300"/>
                </a:lnTo>
                <a:cubicBezTo>
                  <a:pt x="40640" y="377111"/>
                  <a:pt x="44260" y="385286"/>
                  <a:pt x="50292" y="389890"/>
                </a:cubicBezTo>
                <a:cubicBezTo>
                  <a:pt x="56325" y="394494"/>
                  <a:pt x="63754" y="394970"/>
                  <a:pt x="70041" y="391001"/>
                </a:cubicBezTo>
                <a:lnTo>
                  <a:pt x="143764" y="344884"/>
                </a:lnTo>
                <a:lnTo>
                  <a:pt x="253810" y="390763"/>
                </a:lnTo>
                <a:cubicBezTo>
                  <a:pt x="251079" y="385683"/>
                  <a:pt x="248412" y="380365"/>
                  <a:pt x="245809" y="374968"/>
                </a:cubicBezTo>
                <a:cubicBezTo>
                  <a:pt x="238824" y="360442"/>
                  <a:pt x="231902" y="343773"/>
                  <a:pt x="226759" y="325914"/>
                </a:cubicBezTo>
                <a:lnTo>
                  <a:pt x="162497" y="299164"/>
                </a:lnTo>
                <a:lnTo>
                  <a:pt x="162497" y="73342"/>
                </a:lnTo>
                <a:lnTo>
                  <a:pt x="243777" y="107236"/>
                </a:lnTo>
                <a:lnTo>
                  <a:pt x="243777" y="186055"/>
                </a:lnTo>
                <a:cubicBezTo>
                  <a:pt x="263462" y="157639"/>
                  <a:pt x="292672" y="139700"/>
                  <a:pt x="325057" y="139700"/>
                </a:cubicBezTo>
                <a:cubicBezTo>
                  <a:pt x="339408" y="139700"/>
                  <a:pt x="353124" y="143192"/>
                  <a:pt x="365697" y="149622"/>
                </a:cubicBezTo>
                <a:lnTo>
                  <a:pt x="365760" y="38100"/>
                </a:lnTo>
                <a:close/>
                <a:moveTo>
                  <a:pt x="325120" y="177800"/>
                </a:moveTo>
                <a:cubicBezTo>
                  <a:pt x="283020" y="177800"/>
                  <a:pt x="248920" y="219710"/>
                  <a:pt x="248920" y="271383"/>
                </a:cubicBezTo>
                <a:cubicBezTo>
                  <a:pt x="248920" y="326072"/>
                  <a:pt x="289624" y="390763"/>
                  <a:pt x="311531" y="421640"/>
                </a:cubicBezTo>
                <a:cubicBezTo>
                  <a:pt x="318897" y="431959"/>
                  <a:pt x="331407" y="431959"/>
                  <a:pt x="338773" y="421640"/>
                </a:cubicBezTo>
                <a:cubicBezTo>
                  <a:pt x="360680" y="390763"/>
                  <a:pt x="401384" y="326073"/>
                  <a:pt x="401384" y="271383"/>
                </a:cubicBezTo>
                <a:cubicBezTo>
                  <a:pt x="401384" y="219710"/>
                  <a:pt x="367284" y="177800"/>
                  <a:pt x="325184" y="177800"/>
                </a:cubicBezTo>
                <a:close/>
                <a:moveTo>
                  <a:pt x="299720" y="273050"/>
                </a:moveTo>
                <a:cubicBezTo>
                  <a:pt x="299720" y="255527"/>
                  <a:pt x="311101" y="241300"/>
                  <a:pt x="325120" y="241300"/>
                </a:cubicBezTo>
                <a:cubicBezTo>
                  <a:pt x="339139" y="241300"/>
                  <a:pt x="350520" y="255527"/>
                  <a:pt x="350520" y="273050"/>
                </a:cubicBezTo>
                <a:cubicBezTo>
                  <a:pt x="350520" y="290573"/>
                  <a:pt x="339139" y="304800"/>
                  <a:pt x="325120" y="304800"/>
                </a:cubicBezTo>
                <a:cubicBezTo>
                  <a:pt x="311101" y="304800"/>
                  <a:pt x="299720" y="290573"/>
                  <a:pt x="299720" y="273050"/>
                </a:cubicBez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232400" y="2222500"/>
            <a:ext cx="2413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地图服务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99000" y="2768600"/>
            <a:ext cx="2921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高德地图 SDK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经纬度定位 · 图层展示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8000" y="2032000"/>
            <a:ext cx="3429000" cy="1524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8382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95250" y="44450"/>
                </a:moveTo>
                <a:cubicBezTo>
                  <a:pt x="95250" y="19923"/>
                  <a:pt x="115173" y="0"/>
                  <a:pt x="139700" y="0"/>
                </a:cubicBezTo>
                <a:lnTo>
                  <a:pt x="158750" y="0"/>
                </a:lnTo>
                <a:cubicBezTo>
                  <a:pt x="172799" y="0"/>
                  <a:pt x="184150" y="11351"/>
                  <a:pt x="184150" y="25400"/>
                </a:cubicBezTo>
                <a:lnTo>
                  <a:pt x="184150" y="381000"/>
                </a:lnTo>
                <a:cubicBezTo>
                  <a:pt x="184150" y="395049"/>
                  <a:pt x="172799" y="406400"/>
                  <a:pt x="158750" y="406400"/>
                </a:cubicBezTo>
                <a:lnTo>
                  <a:pt x="133350" y="406400"/>
                </a:lnTo>
                <a:cubicBezTo>
                  <a:pt x="109696" y="406400"/>
                  <a:pt x="89773" y="390208"/>
                  <a:pt x="84138" y="368300"/>
                </a:cubicBezTo>
                <a:cubicBezTo>
                  <a:pt x="83582" y="368300"/>
                  <a:pt x="83106" y="368300"/>
                  <a:pt x="82550" y="368300"/>
                </a:cubicBezTo>
                <a:cubicBezTo>
                  <a:pt x="47466" y="368300"/>
                  <a:pt x="19050" y="339884"/>
                  <a:pt x="19050" y="304800"/>
                </a:cubicBezTo>
                <a:cubicBezTo>
                  <a:pt x="19050" y="290513"/>
                  <a:pt x="23813" y="277336"/>
                  <a:pt x="31750" y="266700"/>
                </a:cubicBezTo>
                <a:cubicBezTo>
                  <a:pt x="16351" y="255111"/>
                  <a:pt x="6350" y="236696"/>
                  <a:pt x="6350" y="215900"/>
                </a:cubicBezTo>
                <a:cubicBezTo>
                  <a:pt x="6350" y="191373"/>
                  <a:pt x="20320" y="170021"/>
                  <a:pt x="40640" y="159464"/>
                </a:cubicBezTo>
                <a:cubicBezTo>
                  <a:pt x="35004" y="149939"/>
                  <a:pt x="31750" y="138827"/>
                  <a:pt x="31750" y="127000"/>
                </a:cubicBezTo>
                <a:cubicBezTo>
                  <a:pt x="31750" y="91916"/>
                  <a:pt x="60166" y="63500"/>
                  <a:pt x="95250" y="63500"/>
                </a:cubicBezTo>
                <a:lnTo>
                  <a:pt x="95250" y="44450"/>
                </a:lnTo>
                <a:close/>
                <a:moveTo>
                  <a:pt x="311150" y="44450"/>
                </a:moveTo>
                <a:lnTo>
                  <a:pt x="311150" y="63500"/>
                </a:lnTo>
                <a:cubicBezTo>
                  <a:pt x="346234" y="63500"/>
                  <a:pt x="374650" y="91916"/>
                  <a:pt x="374650" y="127000"/>
                </a:cubicBezTo>
                <a:cubicBezTo>
                  <a:pt x="374650" y="138906"/>
                  <a:pt x="371396" y="150019"/>
                  <a:pt x="365760" y="159464"/>
                </a:cubicBezTo>
                <a:cubicBezTo>
                  <a:pt x="386159" y="170021"/>
                  <a:pt x="400050" y="191294"/>
                  <a:pt x="400050" y="215900"/>
                </a:cubicBezTo>
                <a:cubicBezTo>
                  <a:pt x="400050" y="236696"/>
                  <a:pt x="390049" y="255111"/>
                  <a:pt x="374650" y="266700"/>
                </a:cubicBezTo>
                <a:cubicBezTo>
                  <a:pt x="382588" y="277336"/>
                  <a:pt x="387350" y="290513"/>
                  <a:pt x="387350" y="304800"/>
                </a:cubicBezTo>
                <a:cubicBezTo>
                  <a:pt x="387350" y="339884"/>
                  <a:pt x="358934" y="368300"/>
                  <a:pt x="323850" y="368300"/>
                </a:cubicBezTo>
                <a:cubicBezTo>
                  <a:pt x="323294" y="368300"/>
                  <a:pt x="322818" y="368300"/>
                  <a:pt x="322263" y="368300"/>
                </a:cubicBezTo>
                <a:cubicBezTo>
                  <a:pt x="316627" y="390208"/>
                  <a:pt x="296704" y="406400"/>
                  <a:pt x="273050" y="406400"/>
                </a:cubicBezTo>
                <a:lnTo>
                  <a:pt x="247650" y="406400"/>
                </a:lnTo>
                <a:cubicBezTo>
                  <a:pt x="233601" y="406400"/>
                  <a:pt x="222250" y="395049"/>
                  <a:pt x="222250" y="381000"/>
                </a:cubicBezTo>
                <a:lnTo>
                  <a:pt x="222250" y="25400"/>
                </a:lnTo>
                <a:cubicBezTo>
                  <a:pt x="222250" y="11351"/>
                  <a:pt x="233601" y="0"/>
                  <a:pt x="247650" y="0"/>
                </a:cubicBezTo>
                <a:lnTo>
                  <a:pt x="266700" y="0"/>
                </a:lnTo>
                <a:cubicBezTo>
                  <a:pt x="291227" y="0"/>
                  <a:pt x="311150" y="19923"/>
                  <a:pt x="311150" y="44450"/>
                </a:cubicBez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915400" y="2222500"/>
            <a:ext cx="2413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AI 推理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2768600"/>
            <a:ext cx="2921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PyTorch Mobile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端侧深度学习推理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1811000" y="2032000"/>
            <a:ext cx="3683000" cy="1524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12065000" y="222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406400" y="163354"/>
                </a:moveTo>
                <a:cubicBezTo>
                  <a:pt x="392974" y="171133"/>
                  <a:pt x="377553" y="177403"/>
                  <a:pt x="361496" y="182404"/>
                </a:cubicBezTo>
                <a:cubicBezTo>
                  <a:pt x="318861" y="195739"/>
                  <a:pt x="262890" y="203200"/>
                  <a:pt x="203200" y="203200"/>
                </a:cubicBezTo>
                <a:cubicBezTo>
                  <a:pt x="143510" y="203200"/>
                  <a:pt x="87449" y="195659"/>
                  <a:pt x="44904" y="182404"/>
                </a:cubicBezTo>
                <a:cubicBezTo>
                  <a:pt x="28938" y="177403"/>
                  <a:pt x="13426" y="171133"/>
                  <a:pt x="0" y="163354"/>
                </a:cubicBezTo>
                <a:lnTo>
                  <a:pt x="0" y="228600"/>
                </a:lnTo>
                <a:cubicBezTo>
                  <a:pt x="0" y="263684"/>
                  <a:pt x="90986" y="292100"/>
                  <a:pt x="203200" y="292100"/>
                </a:cubicBezTo>
                <a:cubicBezTo>
                  <a:pt x="315414" y="292100"/>
                  <a:pt x="406400" y="263684"/>
                  <a:pt x="406400" y="228600"/>
                </a:cubicBezTo>
                <a:lnTo>
                  <a:pt x="406400" y="163354"/>
                </a:lnTo>
                <a:close/>
                <a:moveTo>
                  <a:pt x="406400" y="101600"/>
                </a:moveTo>
                <a:lnTo>
                  <a:pt x="406400" y="63500"/>
                </a:lnTo>
                <a:cubicBezTo>
                  <a:pt x="406400" y="28416"/>
                  <a:pt x="315414" y="0"/>
                  <a:pt x="203200" y="0"/>
                </a:cubicBezTo>
                <a:cubicBezTo>
                  <a:pt x="90986" y="0"/>
                  <a:pt x="0" y="28416"/>
                  <a:pt x="0" y="63500"/>
                </a:cubicBezTo>
                <a:lnTo>
                  <a:pt x="0" y="101600"/>
                </a:lnTo>
                <a:cubicBezTo>
                  <a:pt x="0" y="136684"/>
                  <a:pt x="90986" y="165100"/>
                  <a:pt x="203200" y="165100"/>
                </a:cubicBezTo>
                <a:cubicBezTo>
                  <a:pt x="315414" y="165100"/>
                  <a:pt x="406400" y="136684"/>
                  <a:pt x="406400" y="101600"/>
                </a:cubicBezTo>
                <a:close/>
                <a:moveTo>
                  <a:pt x="361496" y="309404"/>
                </a:moveTo>
                <a:cubicBezTo>
                  <a:pt x="318951" y="322659"/>
                  <a:pt x="262981" y="330200"/>
                  <a:pt x="203200" y="330200"/>
                </a:cubicBezTo>
                <a:cubicBezTo>
                  <a:pt x="143419" y="330200"/>
                  <a:pt x="87449" y="322659"/>
                  <a:pt x="44904" y="309404"/>
                </a:cubicBezTo>
                <a:cubicBezTo>
                  <a:pt x="28938" y="304403"/>
                  <a:pt x="13426" y="298133"/>
                  <a:pt x="0" y="290354"/>
                </a:cubicBezTo>
                <a:lnTo>
                  <a:pt x="0" y="342900"/>
                </a:lnTo>
                <a:cubicBezTo>
                  <a:pt x="0" y="377984"/>
                  <a:pt x="90986" y="406400"/>
                  <a:pt x="203200" y="406400"/>
                </a:cubicBezTo>
                <a:cubicBezTo>
                  <a:pt x="315414" y="406400"/>
                  <a:pt x="406400" y="377984"/>
                  <a:pt x="406400" y="342900"/>
                </a:cubicBezTo>
                <a:lnTo>
                  <a:pt x="406400" y="290354"/>
                </a:lnTo>
                <a:cubicBezTo>
                  <a:pt x="392974" y="298133"/>
                  <a:pt x="377553" y="304403"/>
                  <a:pt x="361496" y="309404"/>
                </a:cubicBez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2598400" y="2222500"/>
            <a:ext cx="2667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数据存储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65000" y="2768600"/>
            <a:ext cx="3175000" cy="698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Room + 文件系统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本地数据持久化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62000" y="39370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kern="0" spc="2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模型架构</a:t>
            </a:r>
            <a:endParaRPr lang="en-US" sz="1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/>
        </p:nvGraphicFramePr>
        <p:xfrm>
          <a:off x="762000" y="4445000"/>
          <a:ext cx="8890000" cy="2165985"/>
        </p:xfrm>
        <a:graphic>
          <a:graphicData uri="http://schemas.openxmlformats.org/drawingml/2006/table">
            <a:tbl>
              <a:tblPr/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199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Liter" panose="02000503030000020004" pitchFamily="34" charset="-120"/>
                        </a:rPr>
                        <a:t>任务</a:t>
                      </a:r>
                      <a:endParaRPr lang="en-US" sz="1600" dirty="0">
                        <a:latin typeface="等线" panose="02010600030101010101" pitchFamily="2" charset="-122"/>
                        <a:ea typeface="等线" panose="02010600030101010101" pitchFamily="2" charset="-122"/>
                        <a:cs typeface="Liter" panose="020005030300000200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Liter" panose="02000503030000020004" pitchFamily="34" charset="-120"/>
                        </a:rPr>
                        <a:t>模型架构</a:t>
                      </a:r>
                      <a:endParaRPr lang="en-US" sz="1600" dirty="0">
                        <a:latin typeface="等线" panose="02010600030101010101" pitchFamily="2" charset="-122"/>
                        <a:ea typeface="等线" panose="02010600030101010101" pitchFamily="2" charset="-122"/>
                        <a:cs typeface="Liter" panose="020005030300000200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Liter" panose="02000503030000020004" pitchFamily="34" charset="-120"/>
                        </a:rPr>
                        <a:t>特点</a:t>
                      </a:r>
                      <a:endParaRPr lang="en-US" sz="1600" dirty="0">
                        <a:latin typeface="等线" panose="02010600030101010101" pitchFamily="2" charset="-122"/>
                        <a:ea typeface="等线" panose="02010600030101010101" pitchFamily="2" charset="-122"/>
                        <a:cs typeface="Liter" panose="020005030300000200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B9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9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9FAFB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Liter" panose="02000503030000020004" pitchFamily="34" charset="-120"/>
                        </a:rPr>
                        <a:t>建筑物提取</a:t>
                      </a:r>
                      <a:endParaRPr lang="en-US" sz="1600" dirty="0">
                        <a:latin typeface="等线" panose="02010600030101010101" pitchFamily="2" charset="-122"/>
                        <a:ea typeface="等线" panose="02010600030101010101" pitchFamily="2" charset="-122"/>
                        <a:cs typeface="Liter" panose="020005030300000200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9FAFB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Liter" panose="02000503030000020004" pitchFamily="34" charset="-120"/>
                        </a:rPr>
                        <a:t>U-Net + EfficientNetB0</a:t>
                      </a:r>
                      <a:endParaRPr lang="en-US" sz="1600" dirty="0">
                        <a:latin typeface="等线" panose="02010600030101010101" pitchFamily="2" charset="-122"/>
                        <a:ea typeface="等线" panose="02010600030101010101" pitchFamily="2" charset="-122"/>
                        <a:cs typeface="Liter" panose="020005030300000200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4D399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Liter" panose="02000503030000020004" pitchFamily="34" charset="-120"/>
                        </a:rPr>
                        <a:t>高精度轮廓</a:t>
                      </a:r>
                      <a:endParaRPr lang="en-US" sz="1600" dirty="0">
                        <a:latin typeface="等线" panose="02010600030101010101" pitchFamily="2" charset="-122"/>
                        <a:ea typeface="等线" panose="02010600030101010101" pitchFamily="2" charset="-122"/>
                        <a:cs typeface="Liter" panose="020005030300000200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199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9FAFB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Liter" panose="02000503030000020004" pitchFamily="34" charset="-120"/>
                        </a:rPr>
                        <a:t>交互式分割</a:t>
                      </a:r>
                      <a:endParaRPr lang="en-US" sz="1600" dirty="0">
                        <a:latin typeface="等线" panose="02010600030101010101" pitchFamily="2" charset="-122"/>
                        <a:ea typeface="等线" panose="02010600030101010101" pitchFamily="2" charset="-122"/>
                        <a:cs typeface="Liter" panose="020005030300000200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9FAFB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Liter" panose="02000503030000020004" pitchFamily="34" charset="-120"/>
                        </a:rPr>
                        <a:t>MobileSAM</a:t>
                      </a:r>
                      <a:endParaRPr lang="en-US" sz="1600" dirty="0">
                        <a:latin typeface="等线" panose="02010600030101010101" pitchFamily="2" charset="-122"/>
                        <a:ea typeface="等线" panose="02010600030101010101" pitchFamily="2" charset="-122"/>
                        <a:cs typeface="Liter" panose="020005030300000200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34D399"/>
                          </a:solidFill>
                          <a:latin typeface="等线" panose="02010600030101010101" pitchFamily="2" charset="-122"/>
                          <a:ea typeface="等线" panose="02010600030101010101" pitchFamily="2" charset="-122"/>
                          <a:cs typeface="Liter" panose="02000503030000020004" pitchFamily="34" charset="-120"/>
                        </a:rPr>
                        <a:t>点选框选修正</a:t>
                      </a:r>
                      <a:endParaRPr lang="en-US" sz="1600" dirty="0">
                        <a:latin typeface="等线" panose="02010600030101010101" pitchFamily="2" charset="-122"/>
                        <a:ea typeface="等线" panose="02010600030101010101" pitchFamily="2" charset="-122"/>
                        <a:cs typeface="Liter" panose="02000503030000020004" pitchFamily="34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741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762000" y="7048500"/>
            <a:ext cx="3810000" cy="3556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kern="0" spc="2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端侧</a:t>
            </a:r>
            <a:r>
              <a:rPr lang="zh-CN" altLang="en-US" sz="1600" kern="0" spc="2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模型部署与</a:t>
            </a:r>
            <a:r>
              <a:rPr lang="en-US" sz="1600" kern="0" spc="2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优化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62000" y="7546507"/>
            <a:ext cx="4699000" cy="889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25" name="Text 22"/>
          <p:cNvSpPr/>
          <p:nvPr/>
        </p:nvSpPr>
        <p:spPr>
          <a:xfrm>
            <a:off x="2984500" y="7677869"/>
            <a:ext cx="1524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4D399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60%</a:t>
            </a:r>
            <a:endParaRPr lang="en-US" sz="3200" dirty="0"/>
          </a:p>
        </p:txBody>
      </p:sp>
      <p:sp>
        <p:nvSpPr>
          <p:cNvPr id="26" name="Text 23"/>
          <p:cNvSpPr/>
          <p:nvPr/>
        </p:nvSpPr>
        <p:spPr>
          <a:xfrm>
            <a:off x="1219200" y="7556500"/>
            <a:ext cx="2667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结构化剪枝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模型体积缩小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619750" y="7546507"/>
            <a:ext cx="4149892" cy="889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7686307" y="7670049"/>
            <a:ext cx="1524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34D399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75%</a:t>
            </a:r>
            <a:endParaRPr lang="en-US" sz="3200" dirty="0"/>
          </a:p>
        </p:txBody>
      </p:sp>
      <p:sp>
        <p:nvSpPr>
          <p:cNvPr id="29" name="Text 26"/>
          <p:cNvSpPr/>
          <p:nvPr/>
        </p:nvSpPr>
        <p:spPr>
          <a:xfrm>
            <a:off x="6262838" y="7543049"/>
            <a:ext cx="2667000" cy="762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FP8 量化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内存占用降低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0160000" y="3937000"/>
            <a:ext cx="5334000" cy="4572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31" name="Text 28"/>
          <p:cNvSpPr/>
          <p:nvPr/>
        </p:nvSpPr>
        <p:spPr>
          <a:xfrm>
            <a:off x="10477500" y="4191000"/>
            <a:ext cx="4699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技术关键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10477500" y="4699000"/>
            <a:ext cx="508000" cy="381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33" name="Text 30"/>
          <p:cNvSpPr/>
          <p:nvPr/>
        </p:nvSpPr>
        <p:spPr>
          <a:xfrm>
            <a:off x="10477500" y="4953000"/>
            <a:ext cx="4699000" cy="330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01</a:t>
            </a:r>
            <a:r>
              <a:rPr lang="en-US" sz="15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　影像预处理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　　格式解析 · 归一化 · 尺寸调整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02</a:t>
            </a:r>
            <a:r>
              <a:rPr lang="en-US" sz="15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　Mask 提取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　　深度学习语义分割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03</a:t>
            </a:r>
            <a:r>
              <a:rPr lang="en-US" sz="15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　图层叠加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　　地图坐标关联 · 透明度混合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5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04</a:t>
            </a:r>
            <a:r>
              <a:rPr lang="en-US" sz="15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　离线导出</a:t>
            </a:r>
            <a:endParaRPr lang="en-US" sz="1500" dirty="0"/>
          </a:p>
          <a:p>
            <a:pPr algn="l">
              <a:lnSpc>
                <a:spcPct val="180000"/>
              </a:lnSpc>
            </a:pPr>
            <a:r>
              <a:rPr lang="en-US" sz="13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　　多格式报告生成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762000" y="86360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03 技术实现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508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创新点</a:t>
            </a:r>
            <a:endParaRPr lang="en-US" sz="32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762000" y="1587500"/>
            <a:ext cx="7175500" cy="2159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762000" y="1587500"/>
            <a:ext cx="50800" cy="2159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>
            <p:custDataLst>
              <p:tags r:id="rId3"/>
            </p:custDataLst>
          </p:nvPr>
        </p:nvSpPr>
        <p:spPr>
          <a:xfrm>
            <a:off x="10795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45758" y="-8840"/>
                </a:moveTo>
                <a:cubicBezTo>
                  <a:pt x="357902" y="-1161"/>
                  <a:pt x="362392" y="12769"/>
                  <a:pt x="356881" y="24914"/>
                </a:cubicBezTo>
                <a:lnTo>
                  <a:pt x="276871" y="200025"/>
                </a:lnTo>
                <a:lnTo>
                  <a:pt x="424543" y="200025"/>
                </a:lnTo>
                <a:cubicBezTo>
                  <a:pt x="438320" y="200025"/>
                  <a:pt x="450567" y="207526"/>
                  <a:pt x="455261" y="218867"/>
                </a:cubicBezTo>
                <a:cubicBezTo>
                  <a:pt x="459955" y="230207"/>
                  <a:pt x="455975" y="242888"/>
                  <a:pt x="445464" y="250567"/>
                </a:cubicBezTo>
                <a:lnTo>
                  <a:pt x="151550" y="464880"/>
                </a:lnTo>
                <a:cubicBezTo>
                  <a:pt x="140018" y="473273"/>
                  <a:pt x="123587" y="473720"/>
                  <a:pt x="111443" y="466040"/>
                </a:cubicBezTo>
                <a:cubicBezTo>
                  <a:pt x="99298" y="458361"/>
                  <a:pt x="94808" y="444431"/>
                  <a:pt x="100319" y="432286"/>
                </a:cubicBezTo>
                <a:lnTo>
                  <a:pt x="180329" y="257175"/>
                </a:lnTo>
                <a:lnTo>
                  <a:pt x="32657" y="257175"/>
                </a:lnTo>
                <a:cubicBezTo>
                  <a:pt x="18880" y="257175"/>
                  <a:pt x="6633" y="249674"/>
                  <a:pt x="1939" y="238333"/>
                </a:cubicBezTo>
                <a:cubicBezTo>
                  <a:pt x="-2755" y="226993"/>
                  <a:pt x="1225" y="214312"/>
                  <a:pt x="11736" y="206633"/>
                </a:cubicBezTo>
                <a:lnTo>
                  <a:pt x="305650" y="-7680"/>
                </a:lnTo>
                <a:cubicBezTo>
                  <a:pt x="317183" y="-16073"/>
                  <a:pt x="333613" y="-16520"/>
                  <a:pt x="345758" y="-8840"/>
                </a:cubicBez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714500" y="1841500"/>
            <a:ext cx="508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轻量化闭环</a:t>
            </a:r>
            <a:endParaRPr lang="en-US" sz="220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1079500" y="2476500"/>
            <a:ext cx="6604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影像导入 → 识别 → 核查 → 导出全流程在移动端完成，无需依赖后台平台与专业GIS软件，真正实现现场即采即核即报</a:t>
            </a:r>
            <a:endParaRPr lang="en-US" sz="160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8318500" y="1587500"/>
            <a:ext cx="7175500" cy="2159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8318500" y="1587500"/>
            <a:ext cx="50800" cy="2159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>
            <p:custDataLst>
              <p:tags r:id="rId8"/>
            </p:custDataLst>
          </p:nvPr>
        </p:nvSpPr>
        <p:spPr>
          <a:xfrm>
            <a:off x="86360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30629" y="35719"/>
                </a:moveTo>
                <a:cubicBezTo>
                  <a:pt x="130629" y="15984"/>
                  <a:pt x="148896" y="0"/>
                  <a:pt x="171450" y="0"/>
                </a:cubicBezTo>
                <a:cubicBezTo>
                  <a:pt x="194004" y="0"/>
                  <a:pt x="212271" y="15984"/>
                  <a:pt x="212271" y="35719"/>
                </a:cubicBezTo>
                <a:lnTo>
                  <a:pt x="212271" y="168057"/>
                </a:lnTo>
                <a:cubicBezTo>
                  <a:pt x="220946" y="161270"/>
                  <a:pt x="232376" y="157163"/>
                  <a:pt x="244929" y="157163"/>
                </a:cubicBezTo>
                <a:cubicBezTo>
                  <a:pt x="265952" y="157163"/>
                  <a:pt x="283913" y="168771"/>
                  <a:pt x="290853" y="185023"/>
                </a:cubicBezTo>
                <a:cubicBezTo>
                  <a:pt x="299833" y="176719"/>
                  <a:pt x="312488" y="171450"/>
                  <a:pt x="326571" y="171450"/>
                </a:cubicBezTo>
                <a:cubicBezTo>
                  <a:pt x="352391" y="171450"/>
                  <a:pt x="373516" y="188863"/>
                  <a:pt x="375455" y="211009"/>
                </a:cubicBezTo>
                <a:cubicBezTo>
                  <a:pt x="384130" y="204133"/>
                  <a:pt x="395662" y="200025"/>
                  <a:pt x="408214" y="200025"/>
                </a:cubicBezTo>
                <a:cubicBezTo>
                  <a:pt x="435258" y="200025"/>
                  <a:pt x="457200" y="219224"/>
                  <a:pt x="457200" y="242888"/>
                </a:cubicBezTo>
                <a:lnTo>
                  <a:pt x="457200" y="342900"/>
                </a:lnTo>
                <a:cubicBezTo>
                  <a:pt x="457200" y="406033"/>
                  <a:pt x="398723" y="457200"/>
                  <a:pt x="326571" y="457200"/>
                </a:cubicBezTo>
                <a:lnTo>
                  <a:pt x="239520" y="457200"/>
                </a:lnTo>
                <a:cubicBezTo>
                  <a:pt x="234417" y="457200"/>
                  <a:pt x="229416" y="456932"/>
                  <a:pt x="224518" y="456307"/>
                </a:cubicBezTo>
                <a:cubicBezTo>
                  <a:pt x="168082" y="451306"/>
                  <a:pt x="116137" y="425946"/>
                  <a:pt x="81643" y="385763"/>
                </a:cubicBezTo>
                <a:lnTo>
                  <a:pt x="8164" y="300038"/>
                </a:lnTo>
                <a:cubicBezTo>
                  <a:pt x="-5409" y="284232"/>
                  <a:pt x="-1735" y="261908"/>
                  <a:pt x="16329" y="250031"/>
                </a:cubicBezTo>
                <a:cubicBezTo>
                  <a:pt x="34392" y="238155"/>
                  <a:pt x="59905" y="241369"/>
                  <a:pt x="73479" y="257175"/>
                </a:cubicBezTo>
                <a:lnTo>
                  <a:pt x="130629" y="323880"/>
                </a:lnTo>
                <a:lnTo>
                  <a:pt x="130629" y="35719"/>
                </a:lnTo>
                <a:close/>
                <a:moveTo>
                  <a:pt x="244929" y="271463"/>
                </a:moveTo>
                <a:cubicBezTo>
                  <a:pt x="244929" y="263604"/>
                  <a:pt x="237581" y="257175"/>
                  <a:pt x="228600" y="257175"/>
                </a:cubicBezTo>
                <a:cubicBezTo>
                  <a:pt x="219619" y="257175"/>
                  <a:pt x="212271" y="263604"/>
                  <a:pt x="212271" y="271463"/>
                </a:cubicBezTo>
                <a:lnTo>
                  <a:pt x="212271" y="357188"/>
                </a:lnTo>
                <a:cubicBezTo>
                  <a:pt x="212271" y="365046"/>
                  <a:pt x="219619" y="371475"/>
                  <a:pt x="228600" y="371475"/>
                </a:cubicBezTo>
                <a:cubicBezTo>
                  <a:pt x="237581" y="371475"/>
                  <a:pt x="244929" y="365046"/>
                  <a:pt x="244929" y="357188"/>
                </a:cubicBezTo>
                <a:lnTo>
                  <a:pt x="244929" y="271463"/>
                </a:lnTo>
                <a:close/>
                <a:moveTo>
                  <a:pt x="293914" y="257175"/>
                </a:moveTo>
                <a:cubicBezTo>
                  <a:pt x="284934" y="257175"/>
                  <a:pt x="277586" y="263604"/>
                  <a:pt x="277586" y="271463"/>
                </a:cubicBezTo>
                <a:lnTo>
                  <a:pt x="277586" y="357188"/>
                </a:lnTo>
                <a:cubicBezTo>
                  <a:pt x="277586" y="365046"/>
                  <a:pt x="284934" y="371475"/>
                  <a:pt x="293914" y="371475"/>
                </a:cubicBezTo>
                <a:cubicBezTo>
                  <a:pt x="302895" y="371475"/>
                  <a:pt x="310243" y="365046"/>
                  <a:pt x="310243" y="357188"/>
                </a:cubicBezTo>
                <a:lnTo>
                  <a:pt x="310243" y="271463"/>
                </a:lnTo>
                <a:cubicBezTo>
                  <a:pt x="310243" y="263604"/>
                  <a:pt x="302895" y="257175"/>
                  <a:pt x="293914" y="257175"/>
                </a:cubicBezTo>
                <a:close/>
                <a:moveTo>
                  <a:pt x="375557" y="271463"/>
                </a:moveTo>
                <a:cubicBezTo>
                  <a:pt x="375557" y="263604"/>
                  <a:pt x="368209" y="257175"/>
                  <a:pt x="359229" y="257175"/>
                </a:cubicBezTo>
                <a:cubicBezTo>
                  <a:pt x="350248" y="257175"/>
                  <a:pt x="342900" y="263604"/>
                  <a:pt x="342900" y="271463"/>
                </a:cubicBezTo>
                <a:lnTo>
                  <a:pt x="342900" y="357188"/>
                </a:lnTo>
                <a:cubicBezTo>
                  <a:pt x="342900" y="365046"/>
                  <a:pt x="350248" y="371475"/>
                  <a:pt x="359229" y="371475"/>
                </a:cubicBezTo>
                <a:cubicBezTo>
                  <a:pt x="368209" y="371475"/>
                  <a:pt x="375557" y="365046"/>
                  <a:pt x="375557" y="357188"/>
                </a:cubicBezTo>
                <a:lnTo>
                  <a:pt x="375557" y="271463"/>
                </a:ln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9271000" y="1841500"/>
            <a:ext cx="508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交互式复核</a:t>
            </a:r>
            <a:endParaRPr lang="en-US" sz="220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8636000" y="2476500"/>
            <a:ext cx="6604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将AI识别mask转化为可交互记录卡片，支持点选框选修正，</a:t>
            </a:r>
          </a:p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AI自动识别与人工复核协同，显著提升核查准确性</a:t>
            </a:r>
            <a:endParaRPr lang="en-US" sz="1600" dirty="0"/>
          </a:p>
        </p:txBody>
      </p:sp>
      <p:sp>
        <p:nvSpPr>
          <p:cNvPr id="14" name="Shape 12"/>
          <p:cNvSpPr/>
          <p:nvPr>
            <p:custDataLst>
              <p:tags r:id="rId11"/>
            </p:custDataLst>
          </p:nvPr>
        </p:nvSpPr>
        <p:spPr>
          <a:xfrm>
            <a:off x="762000" y="4064000"/>
            <a:ext cx="7175500" cy="2159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>
            <p:custDataLst>
              <p:tags r:id="rId12"/>
            </p:custDataLst>
          </p:nvPr>
        </p:nvSpPr>
        <p:spPr>
          <a:xfrm>
            <a:off x="762000" y="4064000"/>
            <a:ext cx="50800" cy="2159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1079500" y="4318000"/>
            <a:ext cx="457200" cy="457200"/>
          </a:xfrm>
          <a:prstGeom prst="ellipse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1714500" y="4318000"/>
            <a:ext cx="508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离线核心能力</a:t>
            </a:r>
            <a:endParaRPr lang="en-US" sz="2200" dirty="0"/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1079500" y="4953000"/>
            <a:ext cx="6604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弱网环境本地保存与离线报告导出，适应灾害应急等特殊场景，</a:t>
            </a:r>
          </a:p>
          <a:p>
            <a:pPr algn="l">
              <a:lnSpc>
                <a:spcPct val="160000"/>
              </a:lnSpc>
            </a:pPr>
            <a:r>
              <a:rPr lang="zh-CN" altLang="en-US" sz="1600" dirty="0">
                <a:solidFill>
                  <a:srgbClr val="9CA3AF"/>
                </a:solidFill>
                <a:latin typeface="等线" panose="02010600030101010101" pitchFamily="2" charset="-122"/>
                <a:ea typeface="宋体" panose="02010600030101010101" pitchFamily="2" charset="-122"/>
                <a:cs typeface="Liter" panose="02000503030000020004" pitchFamily="34" charset="-120"/>
              </a:rPr>
              <a:t>在分工完成巡检任务后，巡检人员只需通过面对面互传即可同步数据。</a:t>
            </a:r>
          </a:p>
        </p:txBody>
      </p:sp>
      <p:sp>
        <p:nvSpPr>
          <p:cNvPr id="19" name="Shape 17"/>
          <p:cNvSpPr/>
          <p:nvPr>
            <p:custDataLst>
              <p:tags r:id="rId16"/>
            </p:custDataLst>
          </p:nvPr>
        </p:nvSpPr>
        <p:spPr>
          <a:xfrm>
            <a:off x="8318500" y="4064000"/>
            <a:ext cx="7175500" cy="21590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>
            <p:custDataLst>
              <p:tags r:id="rId17"/>
            </p:custDataLst>
          </p:nvPr>
        </p:nvSpPr>
        <p:spPr>
          <a:xfrm>
            <a:off x="8318500" y="4064000"/>
            <a:ext cx="50800" cy="2159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>
            <p:custDataLst>
              <p:tags r:id="rId18"/>
            </p:custDataLst>
          </p:nvPr>
        </p:nvSpPr>
        <p:spPr>
          <a:xfrm>
            <a:off x="8636000" y="431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97155" y="114300"/>
                </a:moveTo>
                <a:cubicBezTo>
                  <a:pt x="97155" y="55159"/>
                  <a:pt x="135567" y="7144"/>
                  <a:pt x="182880" y="7144"/>
                </a:cubicBezTo>
                <a:cubicBezTo>
                  <a:pt x="230193" y="7144"/>
                  <a:pt x="268605" y="55159"/>
                  <a:pt x="268605" y="114300"/>
                </a:cubicBezTo>
                <a:cubicBezTo>
                  <a:pt x="268605" y="173441"/>
                  <a:pt x="230193" y="221456"/>
                  <a:pt x="182880" y="221456"/>
                </a:cubicBezTo>
                <a:cubicBezTo>
                  <a:pt x="135567" y="221456"/>
                  <a:pt x="97155" y="173441"/>
                  <a:pt x="97155" y="114300"/>
                </a:cubicBezTo>
                <a:close/>
                <a:moveTo>
                  <a:pt x="34290" y="430679"/>
                </a:moveTo>
                <a:cubicBezTo>
                  <a:pt x="34290" y="342721"/>
                  <a:pt x="91297" y="271463"/>
                  <a:pt x="161663" y="271463"/>
                </a:cubicBezTo>
                <a:lnTo>
                  <a:pt x="204097" y="271463"/>
                </a:lnTo>
                <a:cubicBezTo>
                  <a:pt x="274463" y="271463"/>
                  <a:pt x="331470" y="342721"/>
                  <a:pt x="331470" y="430679"/>
                </a:cubicBezTo>
                <a:cubicBezTo>
                  <a:pt x="331470" y="445324"/>
                  <a:pt x="321969" y="457200"/>
                  <a:pt x="310253" y="457200"/>
                </a:cubicBezTo>
                <a:lnTo>
                  <a:pt x="55507" y="457200"/>
                </a:lnTo>
                <a:cubicBezTo>
                  <a:pt x="43791" y="457200"/>
                  <a:pt x="34290" y="445324"/>
                  <a:pt x="34290" y="430679"/>
                </a:cubicBezTo>
                <a:close/>
                <a:moveTo>
                  <a:pt x="437483" y="118497"/>
                </a:moveTo>
                <a:lnTo>
                  <a:pt x="380333" y="232797"/>
                </a:lnTo>
                <a:cubicBezTo>
                  <a:pt x="377333" y="238780"/>
                  <a:pt x="372189" y="242530"/>
                  <a:pt x="366546" y="242888"/>
                </a:cubicBezTo>
                <a:cubicBezTo>
                  <a:pt x="360902" y="243245"/>
                  <a:pt x="355473" y="240030"/>
                  <a:pt x="352115" y="234315"/>
                </a:cubicBezTo>
                <a:lnTo>
                  <a:pt x="317825" y="177165"/>
                </a:lnTo>
                <a:cubicBezTo>
                  <a:pt x="312110" y="167700"/>
                  <a:pt x="313682" y="154305"/>
                  <a:pt x="321254" y="147161"/>
                </a:cubicBezTo>
                <a:cubicBezTo>
                  <a:pt x="328827" y="140017"/>
                  <a:pt x="339542" y="141982"/>
                  <a:pt x="345257" y="151448"/>
                </a:cubicBezTo>
                <a:lnTo>
                  <a:pt x="364546" y="183594"/>
                </a:lnTo>
                <a:lnTo>
                  <a:pt x="408408" y="95816"/>
                </a:lnTo>
                <a:cubicBezTo>
                  <a:pt x="413409" y="85814"/>
                  <a:pt x="423982" y="82689"/>
                  <a:pt x="432054" y="89029"/>
                </a:cubicBezTo>
                <a:cubicBezTo>
                  <a:pt x="440126" y="95369"/>
                  <a:pt x="442555" y="108496"/>
                  <a:pt x="437483" y="118586"/>
                </a:cubicBezTo>
                <a:close/>
              </a:path>
            </a:pathLst>
          </a:cu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>
            <p:custDataLst>
              <p:tags r:id="rId19"/>
            </p:custDataLst>
          </p:nvPr>
        </p:nvSpPr>
        <p:spPr>
          <a:xfrm>
            <a:off x="9271000" y="4318000"/>
            <a:ext cx="508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 err="1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零门槛使用</a:t>
            </a:r>
            <a:r>
              <a:rPr lang="zh-CN" altLang="en-US" sz="2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与标准化报告导出</a:t>
            </a:r>
            <a:endParaRPr lang="en-US" sz="2200" dirty="0"/>
          </a:p>
        </p:txBody>
      </p:sp>
      <p:sp>
        <p:nvSpPr>
          <p:cNvPr id="23" name="Text 21"/>
          <p:cNvSpPr/>
          <p:nvPr>
            <p:custDataLst>
              <p:tags r:id="rId20"/>
            </p:custDataLst>
          </p:nvPr>
        </p:nvSpPr>
        <p:spPr>
          <a:xfrm>
            <a:off x="8636000" y="4953000"/>
            <a:ext cx="6604000" cy="1016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 err="1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基层人员经简单培训即可操作，大幅降低技术使用门槛</a:t>
            </a:r>
            <a:endParaRPr lang="en-US" sz="1600" dirty="0">
              <a:solidFill>
                <a:srgbClr val="9CA3AF"/>
              </a:solidFill>
              <a:latin typeface="等线" panose="02010600030101010101" pitchFamily="2" charset="-122"/>
              <a:ea typeface="等线" panose="02010600030101010101" pitchFamily="2" charset="-122"/>
              <a:cs typeface="Liter" panose="02000503030000020004" pitchFamily="34" charset="-120"/>
            </a:endParaRPr>
          </a:p>
          <a:p>
            <a:pPr algn="l">
              <a:lnSpc>
                <a:spcPct val="160000"/>
              </a:lnSpc>
            </a:pPr>
            <a:r>
              <a:rPr lang="zh-CN" altLang="en-US" sz="16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标准化的报告格式为一线巡检人员迅速上报结果提供便利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604000"/>
            <a:ext cx="14732000" cy="16510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13000"/>
                </a:srgbClr>
              </a:gs>
              <a:gs pos="100000">
                <a:srgbClr val="10B981">
                  <a:alpha val="2000"/>
                </a:srgbClr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62000" y="6604000"/>
            <a:ext cx="50800" cy="1651000"/>
          </a:xfrm>
          <a:prstGeom prst="rect">
            <a:avLst/>
          </a:prstGeom>
          <a:solidFill>
            <a:srgbClr val="34D399"/>
          </a:solidFill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079500" y="6858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01600" y="254000"/>
                </a:moveTo>
                <a:lnTo>
                  <a:pt x="19447" y="254000"/>
                </a:lnTo>
                <a:cubicBezTo>
                  <a:pt x="-317" y="254000"/>
                  <a:pt x="-12462" y="232489"/>
                  <a:pt x="-2302" y="215503"/>
                </a:cubicBezTo>
                <a:lnTo>
                  <a:pt x="39688" y="145494"/>
                </a:lnTo>
                <a:cubicBezTo>
                  <a:pt x="46593" y="133985"/>
                  <a:pt x="58976" y="127000"/>
                  <a:pt x="72390" y="127000"/>
                </a:cubicBezTo>
                <a:lnTo>
                  <a:pt x="147796" y="127000"/>
                </a:lnTo>
                <a:cubicBezTo>
                  <a:pt x="208201" y="24686"/>
                  <a:pt x="298291" y="19526"/>
                  <a:pt x="358537" y="28337"/>
                </a:cubicBezTo>
                <a:cubicBezTo>
                  <a:pt x="368697" y="29845"/>
                  <a:pt x="376634" y="37783"/>
                  <a:pt x="378063" y="47863"/>
                </a:cubicBezTo>
                <a:cubicBezTo>
                  <a:pt x="386874" y="108109"/>
                  <a:pt x="381714" y="198199"/>
                  <a:pt x="279400" y="258604"/>
                </a:cubicBezTo>
                <a:lnTo>
                  <a:pt x="279400" y="334010"/>
                </a:lnTo>
                <a:cubicBezTo>
                  <a:pt x="279400" y="347424"/>
                  <a:pt x="272415" y="359807"/>
                  <a:pt x="260906" y="366713"/>
                </a:cubicBezTo>
                <a:lnTo>
                  <a:pt x="190897" y="408702"/>
                </a:lnTo>
                <a:cubicBezTo>
                  <a:pt x="173990" y="418862"/>
                  <a:pt x="152400" y="406638"/>
                  <a:pt x="152400" y="386953"/>
                </a:cubicBezTo>
                <a:lnTo>
                  <a:pt x="152400" y="304800"/>
                </a:lnTo>
                <a:cubicBezTo>
                  <a:pt x="152400" y="276781"/>
                  <a:pt x="129619" y="254000"/>
                  <a:pt x="101600" y="254000"/>
                </a:cubicBezTo>
                <a:lnTo>
                  <a:pt x="101521" y="254000"/>
                </a:lnTo>
                <a:close/>
                <a:moveTo>
                  <a:pt x="317500" y="127000"/>
                </a:moveTo>
                <a:cubicBezTo>
                  <a:pt x="317500" y="105972"/>
                  <a:pt x="300428" y="88900"/>
                  <a:pt x="279400" y="88900"/>
                </a:cubicBezTo>
                <a:cubicBezTo>
                  <a:pt x="258372" y="88900"/>
                  <a:pt x="241300" y="105972"/>
                  <a:pt x="241300" y="127000"/>
                </a:cubicBezTo>
                <a:cubicBezTo>
                  <a:pt x="241300" y="148028"/>
                  <a:pt x="258372" y="165100"/>
                  <a:pt x="279400" y="165100"/>
                </a:cubicBezTo>
                <a:cubicBezTo>
                  <a:pt x="300428" y="165100"/>
                  <a:pt x="317500" y="148028"/>
                  <a:pt x="317500" y="127000"/>
                </a:cubicBezTo>
                <a:close/>
              </a:path>
            </a:pathLst>
          </a:custGeom>
          <a:solidFill>
            <a:srgbClr val="34D399"/>
          </a:solidFill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651000" y="6794500"/>
            <a:ext cx="5080000" cy="4572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000" dirty="0">
                <a:solidFill>
                  <a:srgbClr val="34D399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场景创新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79500" y="7366000"/>
            <a:ext cx="14097000" cy="762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6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将遥感影像智能解译从后台平台延伸到基层移动终端，聚焦一线人员最需要的现场判断、取证记录和快速上报，适合弱网、离线和数据敏感的真实现场环境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62000" y="86360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03 技术实现</a:t>
            </a:r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yv5azbvcqfjc/mnt/agents/output/skyedge/images/0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C0F0E">
                  <a:alpha val="94000"/>
                </a:srgbClr>
              </a:gs>
              <a:gs pos="55000">
                <a:srgbClr val="0C0F0E">
                  <a:alpha val="82000"/>
                </a:srgbClr>
              </a:gs>
              <a:gs pos="100000">
                <a:srgbClr val="0C0F0E">
                  <a:alpha val="50000"/>
                </a:srgbClr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1016000" y="2286000"/>
            <a:ext cx="5080000" cy="12700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04</a:t>
            </a:r>
            <a:endParaRPr lang="en-US" sz="9600" dirty="0"/>
          </a:p>
        </p:txBody>
      </p:sp>
      <p:sp>
        <p:nvSpPr>
          <p:cNvPr id="5" name="Shape 2"/>
          <p:cNvSpPr/>
          <p:nvPr/>
        </p:nvSpPr>
        <p:spPr>
          <a:xfrm>
            <a:off x="1016000" y="3810000"/>
            <a:ext cx="762000" cy="508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016000" y="4064000"/>
            <a:ext cx="7620000" cy="762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4800" kern="0" spc="1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成果与展望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1016000" y="4953000"/>
            <a:ext cx="7620000" cy="4064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800" kern="0" spc="1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成果展示 · 未来规划</a:t>
            </a:r>
            <a:endParaRPr lang="en-US" sz="18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558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成果展示 — 智能识别与标注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7175500" cy="70485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pic>
        <p:nvPicPr>
          <p:cNvPr id="5" name="Image 0" descr="https://kimi-img.moonshot.cn/pub/slides/okc/kyv5azbvcqfjc/mnt/agents/output/skyedge/images/fd092bbfd19cf25d435a6d67da4ad035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2500" y="1841500"/>
            <a:ext cx="3350000" cy="3335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52500" y="5360000"/>
            <a:ext cx="335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原始航拍图</a:t>
            </a:r>
            <a:endParaRPr lang="en-US" sz="1200" dirty="0"/>
          </a:p>
        </p:txBody>
      </p:sp>
      <p:pic>
        <p:nvPicPr>
          <p:cNvPr id="8" name="Image 1" descr="https://kimi-img.moonshot.cn/pub/slides/okc/kyv5azbvcqfjc/mnt/agents/output/skyedge/images/311cdabcd298cef0719b9243398ffae5.png"/>
          <p:cNvPicPr>
            <a:picLocks noChangeAspect="1"/>
          </p:cNvPicPr>
          <p:nvPr/>
        </p:nvPicPr>
        <p:blipFill>
          <a:blip r:embed="rId4"/>
          <a:srcRect t="5000" b="45000"/>
          <a:stretch>
            <a:fillRect/>
          </a:stretch>
        </p:blipFill>
        <p:spPr>
          <a:xfrm>
            <a:off x="9000000" y="1524000"/>
            <a:ext cx="2540000" cy="5437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00000" y="7080000"/>
            <a:ext cx="4140000" cy="52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交互式建筑标注界面 — 点选框选 · 确认排除 · 拍照存档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8318500" y="1524000"/>
            <a:ext cx="7175500" cy="7048500"/>
          </a:xfrm>
          <a:prstGeom prst="rect">
            <a:avLst/>
          </a:prstGeom>
          <a:solidFill>
            <a:srgbClr val="162320"/>
          </a:solidFill>
        </p:spPr>
        <p:txBody>
          <a:bodyPr/>
          <a:lstStyle/>
          <a:p>
            <a:endParaRPr/>
          </a:p>
        </p:txBody>
      </p:sp>
      <p:pic>
        <p:nvPicPr>
          <p:cNvPr id="11" name="Image 2" descr="https://kimi-img.moonshot.cn/pub/slides/okc/kyv5azbvcqfjc/mnt/agents/output/skyedge/images/0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642500" y="1841500"/>
            <a:ext cx="3350000" cy="33350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42500" y="5360000"/>
            <a:ext cx="335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GeoTIFF 图层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1620000" y="7080000"/>
            <a:ext cx="4140000" cy="520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3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建筑详情编辑 — 状态标注 · 人工标签 · 现场照片关联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762000" y="1524000"/>
            <a:ext cx="14732000" cy="50800"/>
          </a:xfrm>
          <a:prstGeom prst="rect">
            <a:avLst/>
          </a:prstGeom>
          <a:gradFill flip="none" rotWithShape="1">
            <a:gsLst>
              <a:gs pos="0">
                <a:srgbClr val="10B981"/>
              </a:gs>
              <a:gs pos="50000">
                <a:srgbClr val="34D399"/>
              </a:gs>
              <a:gs pos="100000">
                <a:srgbClr val="10B981"/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  <p:sp>
        <p:nvSpPr>
          <p:cNvPr id="17" name="Text 11"/>
          <p:cNvSpPr/>
          <p:nvPr/>
        </p:nvSpPr>
        <p:spPr>
          <a:xfrm>
            <a:off x="762000" y="86360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04 成果与展望</a:t>
            </a:r>
            <a:endParaRPr 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30C1355-9192-3B09-D23B-3C20E2840138}"/>
              </a:ext>
            </a:extLst>
          </p:cNvPr>
          <p:cNvSpPr txBox="1"/>
          <p:nvPr/>
        </p:nvSpPr>
        <p:spPr>
          <a:xfrm>
            <a:off x="2812721" y="6314376"/>
            <a:ext cx="415652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</a:rPr>
              <a:t>模型识别建筑</a:t>
            </a:r>
            <a:endParaRPr lang="en-US" altLang="zh-CN" sz="3200" dirty="0">
              <a:solidFill>
                <a:schemeClr val="bg1"/>
              </a:solidFill>
            </a:endParaRPr>
          </a:p>
          <a:p>
            <a:r>
              <a:rPr lang="zh-CN" altLang="en-US" sz="3200" dirty="0">
                <a:solidFill>
                  <a:schemeClr val="bg1"/>
                </a:solidFill>
              </a:rPr>
              <a:t>建筑交互卡片</a:t>
            </a:r>
            <a:endParaRPr lang="en-US" altLang="zh-CN" sz="3200" dirty="0">
              <a:solidFill>
                <a:schemeClr val="bg1"/>
              </a:solidFill>
            </a:endParaRPr>
          </a:p>
          <a:p>
            <a:r>
              <a:rPr lang="zh-CN" altLang="en-US" sz="3200" dirty="0">
                <a:solidFill>
                  <a:schemeClr val="bg1"/>
                </a:solidFill>
              </a:rPr>
              <a:t>灾害范围校正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CA04275A-6FC0-1F30-DCAE-0DBF249A1E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0775" y="1581150"/>
            <a:ext cx="3364829" cy="693420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65978FA6-6D4E-6CB1-E14E-65ADF550CD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87878" y="1524000"/>
            <a:ext cx="3203811" cy="6925941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7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Autofit/>
          </a:bodyPr>
          <a:lstStyle/>
          <a:p>
            <a:endParaRPr lang="zh-CN" altLang="en-US"/>
          </a:p>
        </p:txBody>
      </p:sp>
      <p:pic>
        <p:nvPicPr>
          <p:cNvPr id="26" name="内容占位符 25" descr="微信图片_2026-06-11_173134_230"/>
          <p:cNvPicPr>
            <a:picLocks noGrp="1" noChangeAspect="1"/>
          </p:cNvPicPr>
          <p:nvPr>
            <p:ph idx="16390"/>
            <p:custDataLst>
              <p:tags r:id="rId3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032000" y="1828800"/>
            <a:ext cx="4605020" cy="5486400"/>
          </a:xfrm>
          <a:prstGeom prst="rect">
            <a:avLst/>
          </a:prstGeom>
        </p:spPr>
      </p:pic>
      <p:sp>
        <p:nvSpPr>
          <p:cNvPr id="22" name="文本占位符 21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2032000" y="7742827"/>
            <a:ext cx="4605867" cy="4064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  <a:sym typeface="+mn-ea"/>
              </a:rPr>
              <a:t>灾害范围结构化报告 </a:t>
            </a:r>
            <a:endParaRPr lang="en-US" dirty="0">
              <a:solidFill>
                <a:srgbClr val="9CA3AF"/>
              </a:solidFill>
              <a:latin typeface="等线" panose="02010600030101010101" pitchFamily="2" charset="-122"/>
              <a:ea typeface="等线" panose="02010600030101010101" pitchFamily="2" charset="-122"/>
              <a:cs typeface="Liter" panose="02000503030000020004" pitchFamily="34" charset="-120"/>
              <a:sym typeface="+mn-ea"/>
            </a:endParaRPr>
          </a:p>
          <a:p>
            <a:r>
              <a:rPr lang="en-US" dirty="0" err="1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  <a:sym typeface="+mn-ea"/>
              </a:rPr>
              <a:t>范围采集</a:t>
            </a:r>
            <a:r>
              <a:rPr lang="en-US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  <a:sym typeface="+mn-ea"/>
              </a:rPr>
              <a:t> </a:t>
            </a:r>
            <a:r>
              <a:rPr lang="zh-CN" altLang="en-US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  <a:sym typeface="+mn-ea"/>
              </a:rPr>
              <a:t>、</a:t>
            </a:r>
            <a:r>
              <a:rPr lang="en-US" dirty="0" err="1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  <a:sym typeface="+mn-ea"/>
              </a:rPr>
              <a:t>现场记录</a:t>
            </a:r>
            <a:r>
              <a:rPr lang="en-US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  <a:sym typeface="+mn-ea"/>
              </a:rPr>
              <a:t> </a:t>
            </a:r>
            <a:r>
              <a:rPr lang="zh-CN" altLang="en-US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  <a:sym typeface="+mn-ea"/>
              </a:rPr>
              <a:t>、</a:t>
            </a:r>
            <a:r>
              <a:rPr lang="en-US" dirty="0" err="1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  <a:sym typeface="+mn-ea"/>
              </a:rPr>
              <a:t>处置建议</a:t>
            </a:r>
            <a:r>
              <a:rPr lang="zh-CN" altLang="en-US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  <a:sym typeface="+mn-ea"/>
              </a:rPr>
              <a:t>、附件</a:t>
            </a:r>
            <a:endParaRPr lang="en-US" altLang="zh-CN" dirty="0">
              <a:solidFill>
                <a:srgbClr val="9CA3AF"/>
              </a:solidFill>
              <a:latin typeface="等线" panose="02010600030101010101" pitchFamily="2" charset="-122"/>
              <a:ea typeface="等线" panose="02010600030101010101" pitchFamily="2" charset="-122"/>
              <a:cs typeface="Liter" panose="02000503030000020004" pitchFamily="34" charset="-120"/>
              <a:sym typeface="+mn-ea"/>
            </a:endParaRPr>
          </a:p>
          <a:p>
            <a:r>
              <a:rPr lang="en-US" altLang="zh-CN" dirty="0" err="1">
                <a:solidFill>
                  <a:srgbClr val="9CA3AF"/>
                </a:solidFill>
                <a:latin typeface="等线" panose="02010600030101010101" pitchFamily="2" charset="-122"/>
                <a:cs typeface="Liter" panose="02000503030000020004" pitchFamily="34" charset="-120"/>
                <a:sym typeface="+mn-ea"/>
              </a:rPr>
              <a:t>多格式导出（PDF</a:t>
            </a:r>
            <a:r>
              <a:rPr lang="en-US" altLang="zh-CN" dirty="0">
                <a:solidFill>
                  <a:srgbClr val="9CA3AF"/>
                </a:solidFill>
                <a:latin typeface="等线" panose="02010600030101010101" pitchFamily="2" charset="-122"/>
                <a:cs typeface="Liter" panose="02000503030000020004" pitchFamily="34" charset="-120"/>
                <a:sym typeface="+mn-ea"/>
              </a:rPr>
              <a:t> / </a:t>
            </a:r>
            <a:r>
              <a:rPr lang="en-US" altLang="zh-CN" dirty="0" err="1">
                <a:solidFill>
                  <a:srgbClr val="9CA3AF"/>
                </a:solidFill>
                <a:latin typeface="等线" panose="02010600030101010101" pitchFamily="2" charset="-122"/>
                <a:cs typeface="Liter" panose="02000503030000020004" pitchFamily="34" charset="-120"/>
                <a:sym typeface="+mn-ea"/>
              </a:rPr>
              <a:t>图片</a:t>
            </a:r>
            <a:r>
              <a:rPr lang="en-US" altLang="zh-CN" dirty="0">
                <a:solidFill>
                  <a:srgbClr val="9CA3AF"/>
                </a:solidFill>
                <a:latin typeface="等线" panose="02010600030101010101" pitchFamily="2" charset="-122"/>
                <a:cs typeface="Liter" panose="02000503030000020004" pitchFamily="34" charset="-120"/>
                <a:sym typeface="+mn-ea"/>
              </a:rPr>
              <a:t> / JSON / </a:t>
            </a:r>
            <a:r>
              <a:rPr lang="en-US" altLang="zh-CN" dirty="0" err="1">
                <a:solidFill>
                  <a:srgbClr val="9CA3AF"/>
                </a:solidFill>
                <a:latin typeface="等线" panose="02010600030101010101" pitchFamily="2" charset="-122"/>
                <a:cs typeface="Liter" panose="02000503030000020004" pitchFamily="34" charset="-120"/>
                <a:sym typeface="+mn-ea"/>
              </a:rPr>
              <a:t>GeoJSON</a:t>
            </a:r>
            <a:r>
              <a:rPr lang="zh-CN" altLang="en-US" dirty="0">
                <a:solidFill>
                  <a:srgbClr val="9CA3AF"/>
                </a:solidFill>
                <a:latin typeface="等线" panose="02010600030101010101" pitchFamily="2" charset="-122"/>
                <a:ea typeface="宋体" panose="02010600030101010101" pitchFamily="2" charset="-122"/>
                <a:cs typeface="Liter" panose="02000503030000020004" pitchFamily="34" charset="-120"/>
                <a:sym typeface="+mn-ea"/>
              </a:rPr>
              <a:t>）</a:t>
            </a:r>
          </a:p>
          <a:p>
            <a:endParaRPr lang="en-US" dirty="0"/>
          </a:p>
          <a:p>
            <a:endParaRPr lang="zh-CN" altLang="en-US" dirty="0"/>
          </a:p>
        </p:txBody>
      </p:sp>
      <p:pic>
        <p:nvPicPr>
          <p:cNvPr id="27" name="内容占位符 26" descr="微信图片_2026-06-11_173146_072"/>
          <p:cNvPicPr>
            <a:picLocks noGrp="1" noChangeAspect="1"/>
          </p:cNvPicPr>
          <p:nvPr>
            <p:ph idx="16391"/>
            <p:custDataLst>
              <p:tags r:id="rId5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325882" y="1828800"/>
            <a:ext cx="4614545" cy="5486400"/>
          </a:xfrm>
          <a:prstGeom prst="rect">
            <a:avLst/>
          </a:prstGeom>
        </p:spPr>
      </p:pic>
      <p:sp>
        <p:nvSpPr>
          <p:cNvPr id="24" name="文本占位符 23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9325882" y="7742827"/>
            <a:ext cx="4605867" cy="4064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  <a:sym typeface="+mn-ea"/>
              </a:rPr>
              <a:t>建筑核查报告</a:t>
            </a:r>
          </a:p>
          <a:p>
            <a:r>
              <a:rPr lang="zh-CN" altLang="en-US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  <a:sym typeface="+mn-ea"/>
              </a:rPr>
              <a:t>建筑明细、现场照片、附件</a:t>
            </a:r>
            <a:endParaRPr lang="en-US" dirty="0">
              <a:solidFill>
                <a:srgbClr val="9CA3AF"/>
              </a:solidFill>
              <a:latin typeface="等线" panose="02010600030101010101" pitchFamily="2" charset="-122"/>
              <a:ea typeface="等线" panose="02010600030101010101" pitchFamily="2" charset="-122"/>
              <a:cs typeface="Liter" panose="02000503030000020004" pitchFamily="34" charset="-120"/>
              <a:sym typeface="+mn-ea"/>
            </a:endParaRPr>
          </a:p>
          <a:p>
            <a:r>
              <a:rPr lang="en-US" dirty="0" err="1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  <a:sym typeface="+mn-ea"/>
              </a:rPr>
              <a:t>多格式导出（PDF</a:t>
            </a:r>
            <a:r>
              <a:rPr lang="en-US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  <a:sym typeface="+mn-ea"/>
              </a:rPr>
              <a:t> / 图片 / JSON / GeoJSON</a:t>
            </a:r>
            <a:r>
              <a:rPr lang="zh-CN" altLang="en-US" dirty="0">
                <a:solidFill>
                  <a:srgbClr val="9CA3AF"/>
                </a:solidFill>
                <a:latin typeface="等线" panose="02010600030101010101" pitchFamily="2" charset="-122"/>
                <a:ea typeface="宋体" panose="02010600030101010101" pitchFamily="2" charset="-122"/>
                <a:cs typeface="Liter" panose="02000503030000020004" pitchFamily="34" charset="-120"/>
                <a:sym typeface="+mn-ea"/>
              </a:rPr>
              <a:t>）</a:t>
            </a:r>
          </a:p>
        </p:txBody>
      </p:sp>
      <p:sp>
        <p:nvSpPr>
          <p:cNvPr id="2" name="Shape 0"/>
          <p:cNvSpPr/>
          <p:nvPr/>
        </p:nvSpPr>
        <p:spPr>
          <a:xfrm>
            <a:off x="762000" y="635000"/>
            <a:ext cx="50800" cy="5080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90600" y="635000"/>
            <a:ext cx="8890000" cy="558800"/>
          </a:xfrm>
          <a:prstGeom prst="rect">
            <a:avLst/>
          </a:prstGeom>
          <a:gradFill flip="none" rotWithShape="1">
            <a:gsLst>
              <a:gs pos="0">
                <a:srgbClr val="0C0F0E">
                  <a:alpha val="0"/>
                </a:srgbClr>
              </a:gs>
              <a:gs pos="70000">
                <a:srgbClr val="0C0F0E">
                  <a:alpha val="0"/>
                </a:srgbClr>
              </a:gs>
              <a:gs pos="100000">
                <a:srgbClr val="0C0F0E">
                  <a:alpha val="88000"/>
                </a:srgbClr>
              </a:gs>
            </a:gsLst>
            <a:lin ang="0" scaled="1"/>
          </a:gradFill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32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成果展示 — 灾害核查与报告</a:t>
            </a:r>
            <a:endParaRPr lang="en-US" sz="3200" dirty="0"/>
          </a:p>
        </p:txBody>
      </p:sp>
      <p:sp>
        <p:nvSpPr>
          <p:cNvPr id="8" name="Text 4"/>
          <p:cNvSpPr/>
          <p:nvPr/>
        </p:nvSpPr>
        <p:spPr>
          <a:xfrm>
            <a:off x="7569835" y="4800600"/>
            <a:ext cx="7366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62000" y="8636000"/>
            <a:ext cx="2540000" cy="3048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04 成果与展望</a:t>
            </a:r>
            <a:endParaRPr lang="en-US" sz="1200" dirty="0"/>
          </a:p>
        </p:txBody>
      </p:sp>
      <p:sp>
        <p:nvSpPr>
          <p:cNvPr id="31" name="文本占位符 21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15552" y="7886064"/>
            <a:ext cx="4605867" cy="74993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xt_stage_platform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kyv5azbvcqfjc/mnt/agents/output/skyedge/images/5_Picturing_Earth_in_a_New_Light_NASA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flip="none" rotWithShape="1">
            <a:gsLst>
              <a:gs pos="0">
                <a:srgbClr val="0C0F0E">
                  <a:alpha val="69000"/>
                </a:srgbClr>
              </a:gs>
              <a:gs pos="100000">
                <a:srgbClr val="0C0F0E">
                  <a:alpha val="94000"/>
                </a:srgbClr>
              </a:gs>
            </a:gsLst>
            <a:path path="circle"/>
          </a:gradFill>
        </p:spPr>
        <p:txBody>
          <a:bodyPr/>
          <a:lstStyle/>
          <a:p>
            <a:endParaRPr/>
          </a:p>
        </p:txBody>
      </p:sp>
      <p:sp>
        <p:nvSpPr>
          <p:cNvPr id="4" name="Shape 1"/>
          <p:cNvSpPr/>
          <p:nvPr/>
        </p:nvSpPr>
        <p:spPr>
          <a:xfrm>
            <a:off x="6858000" y="3048000"/>
            <a:ext cx="2540000" cy="508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5" name="Text 2"/>
          <p:cNvSpPr/>
          <p:nvPr/>
        </p:nvSpPr>
        <p:spPr>
          <a:xfrm>
            <a:off x="3048000" y="3429000"/>
            <a:ext cx="10160000" cy="1016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5600" kern="0" spc="800" dirty="0">
                <a:solidFill>
                  <a:srgbClr val="F9FAFB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感谢聆听</a:t>
            </a:r>
            <a:endParaRPr lang="en-US" sz="5600" dirty="0"/>
          </a:p>
        </p:txBody>
      </p:sp>
      <p:sp>
        <p:nvSpPr>
          <p:cNvPr id="6" name="Shape 3"/>
          <p:cNvSpPr/>
          <p:nvPr/>
        </p:nvSpPr>
        <p:spPr>
          <a:xfrm>
            <a:off x="6858000" y="4699000"/>
            <a:ext cx="2540000" cy="50800"/>
          </a:xfrm>
          <a:prstGeom prst="rect">
            <a:avLst/>
          </a:prstGeom>
          <a:solidFill>
            <a:srgbClr val="10B981"/>
          </a:solidFill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2989580" y="5080000"/>
            <a:ext cx="10160000" cy="508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kern="0" spc="4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SkyEdge · </a:t>
            </a:r>
            <a:r>
              <a:rPr lang="zh-CN" altLang="en-US" sz="2000" kern="0" spc="400" dirty="0">
                <a:solidFill>
                  <a:srgbClr val="10B981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让低空巡检更简单</a:t>
            </a:r>
          </a:p>
        </p:txBody>
      </p:sp>
      <p:sp>
        <p:nvSpPr>
          <p:cNvPr id="8" name="Text 5"/>
          <p:cNvSpPr/>
          <p:nvPr/>
        </p:nvSpPr>
        <p:spPr>
          <a:xfrm>
            <a:off x="4318000" y="6096000"/>
            <a:ext cx="7620000" cy="38100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9CA3AF"/>
                </a:solidFill>
                <a:latin typeface="等线" panose="02010600030101010101" pitchFamily="2" charset="-122"/>
                <a:ea typeface="等线" panose="02010600030101010101" pitchFamily="2" charset="-122"/>
                <a:cs typeface="Liter" panose="02000503030000020004" pitchFamily="34" charset="-120"/>
              </a:rPr>
              <a:t>全球数智教育创新大赛 · 空天信息赛道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8890000"/>
            <a:ext cx="16256000" cy="50800"/>
          </a:xfrm>
          <a:prstGeom prst="rect">
            <a:avLst/>
          </a:prstGeom>
          <a:gradFill flip="none" rotWithShape="1">
            <a:gsLst>
              <a:gs pos="0">
                <a:srgbClr val="10B981">
                  <a:alpha val="0"/>
                </a:srgbClr>
              </a:gs>
              <a:gs pos="30000">
                <a:srgbClr val="10B981"/>
              </a:gs>
              <a:gs pos="70000">
                <a:srgbClr val="10B981"/>
              </a:gs>
              <a:gs pos="100000">
                <a:srgbClr val="10B981">
                  <a:alpha val="0"/>
                </a:srgbClr>
              </a:gs>
            </a:gsLst>
            <a:lin ang="0" scaled="1"/>
          </a:gradFill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554bd747eb188c454cc06ebf4edc8f22f111849"/>
  <p:tag name="KSO_WM_NEWLAYOUT_ID" val="slide_b12cb0e30277332f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458c5973d77e91d2671257a7df4cce9a70a47d6"/>
  <p:tag name="KSO_WM_NEWLAYOUT_ID" val="slide_b20d78d373fd59d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1,&quot;left&quot;:59.75,&quot;top&quot;:151.2,&quot;width&quot;:1170.75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1,&quot;left&quot;:59.75,&quot;top&quot;:151.2,&quot;width&quot;:1170.75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1,&quot;left&quot;:59.75,&quot;top&quot;:151.2,&quot;width&quot;:1170.75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1,&quot;left&quot;:59.75,&quot;top&quot;:151.2,&quot;width&quot;:1170.75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1,&quot;left&quot;:59.75,&quot;top&quot;:151.2,&quot;width&quot;:1170.75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1,&quot;left&quot;:59.75,&quot;top&quot;:151.2,&quot;width&quot;:1170.75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1,&quot;left&quot;:59.75,&quot;top&quot;:151.2,&quot;width&quot;:1170.75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1,&quot;left&quot;:59.75,&quot;top&quot;:151.2,&quot;width&quot;:1170.75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17.1,&quot;left&quot;:59.75,&quot;top&quot;:151.2,&quot;width&quot;:1170.75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54.3,&quot;left&quot;:75,&quot;top&quot;:175,&quot;width&quot;:1135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5,&quot;left&quot;:60,&quot;top&quot;:125,&quot;width&quot;:1160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SLIDE_ID" val="slide_b20d78d373fd59d9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458c5973d77e91d2671257a7df4cce9a70a47d6"/>
  <p:tag name="KSO_WM_NEWLAYOUT_ID" val="slide_b20d78d373fd59d9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724</Words>
  <Application>Microsoft Office PowerPoint</Application>
  <PresentationFormat>自定义</PresentationFormat>
  <Paragraphs>238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2" baseType="lpstr">
      <vt:lpstr>Calibri</vt:lpstr>
      <vt:lpstr>等线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SkyEdge 低空影像智能核查系统</dc:title>
  <dc:subject>SkyEdge 低空影像智能核查系统</dc:subject>
  <dc:creator>Kimi</dc:creator>
  <cp:lastModifiedBy>辰垣 蔡</cp:lastModifiedBy>
  <cp:revision>11</cp:revision>
  <dcterms:created xsi:type="dcterms:W3CDTF">2026-06-11T09:15:00Z</dcterms:created>
  <dcterms:modified xsi:type="dcterms:W3CDTF">2026-06-14T08:09:04Z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{"Label":"SkyEdge 低空影像智能核查系统","ContentProducer":"001191110108MACG2KBH8F10000","ProduceID":"19eb5e83-08f2-86ca-8000-00007b033dce","ReservedCode1":"","ContentPropagator":"001191110108MACG2KBH8F20000","PropagateID":"19eb5e46-f302-85a3-8000-094de239e943","ReservedCode2":""}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48BD851121ED4E2B851CAB5FC200E309_13</vt:lpwstr>
  </property>
</Properties>
</file>